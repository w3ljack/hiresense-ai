
<file path=[Content_Types].xml><?xml version="1.0" encoding="utf-8"?>
<Types xmlns="http://schemas.openxmlformats.org/package/2006/content-types">
  <Default ContentType="application/vnd.openxmlformats-officedocument.spreadsheetml.sheet" Extension="xlsx"/>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gsHnAp7gOnC+6YsUtgBk38XJyD7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Match Score</c:v>
                </c:pt>
              </c:strCache>
            </c:strRef>
          </c:tx>
          <c:spPr>
            <a:solidFill>
              <a:srgbClr val="16A34A"/>
            </a:solidFill>
            <a:effectLst/>
          </c:spPr>
          <c:invertIfNegative val="0"/>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16A34A"/>
              </a:solidFill>
              <a:effectLst/>
            </c:spPr>
          </c:dPt>
          <c:dPt>
            <c:idx val="1"/>
            <c:invertIfNegative val="0"/>
            <c:bubble3D val="0"/>
            <c:spPr>
              <a:solidFill>
                <a:srgbClr val="16A34A"/>
              </a:solidFill>
              <a:effectLst/>
            </c:spPr>
          </c:dPt>
          <c:dPt>
            <c:idx val="2"/>
            <c:invertIfNegative val="0"/>
            <c:bubble3D val="0"/>
            <c:spPr>
              <a:solidFill>
                <a:srgbClr val="D97706"/>
              </a:solidFill>
              <a:effectLst/>
            </c:spPr>
          </c:dPt>
          <c:dPt>
            <c:idx val="3"/>
            <c:invertIfNegative val="0"/>
            <c:bubble3D val="0"/>
            <c:spPr>
              <a:solidFill>
                <a:srgbClr val="D97706"/>
              </a:solidFill>
              <a:effectLst/>
            </c:spPr>
          </c:dPt>
          <c:dPt>
            <c:idx val="4"/>
            <c:invertIfNegative val="0"/>
            <c:bubble3D val="0"/>
            <c:spPr>
              <a:solidFill>
                <a:srgbClr val="DC2626"/>
              </a:solidFill>
              <a:effectLst/>
            </c:spPr>
          </c:dPt>
          <c:dPt>
            <c:idx val="5"/>
            <c:invertIfNegative val="0"/>
            <c:bubble3D val="0"/>
            <c:spPr>
              <a:solidFill>
                <a:srgbClr val="DC2626"/>
              </a:solidFill>
              <a:effectLst/>
            </c:spPr>
          </c:dPt>
          <c:cat>
            <c:multiLvlStrRef>
              <c:f>Sheet1!$A$2:$A$7</c:f>
              <c:multiLvlStrCache>
                <c:ptCount val="6"/>
                <c:lvl>
                  <c:pt idx="0">
                    <c:v>Aisha K.</c:v>
                  </c:pt>
                  <c:pt idx="1">
                    <c:v>Sofia L.</c:v>
                  </c:pt>
                  <c:pt idx="2">
                    <c:v>Priya N.</c:v>
                  </c:pt>
                  <c:pt idx="3">
                    <c:v>Jamie P.</c:v>
                  </c:pt>
                  <c:pt idx="4">
                    <c:v>Marco R.</c:v>
                  </c:pt>
                  <c:pt idx="5">
                    <c:v>Devon W.</c:v>
                  </c:pt>
                </c:lvl>
              </c:multiLvlStrCache>
            </c:multiLvlStrRef>
          </c:cat>
          <c:val>
            <c:numRef>
              <c:f>Sheet1!$B$2:$B$7</c:f>
              <c:numCache>
                <c:formatCode>General</c:formatCode>
                <c:ptCount val="6"/>
                <c:pt idx="0">
                  <c:v>91</c:v>
                </c:pt>
                <c:pt idx="1">
                  <c:v>78</c:v>
                </c:pt>
                <c:pt idx="2">
                  <c:v>65</c:v>
                </c:pt>
                <c:pt idx="3">
                  <c:v>60</c:v>
                </c:pt>
                <c:pt idx="4">
                  <c:v>42</c:v>
                </c:pt>
                <c:pt idx="5">
                  <c:v>18</c:v>
                </c:pt>
              </c:numCache>
            </c:numRef>
          </c:val>
        </c:ser>
        <c:dLbls>
          <c:numFmt formatCode="#,##0" sourceLinked="0"/>
          <c:txPr>
            <a:bodyPr/>
            <a:lstStyle/>
            <a:p>
              <a:pPr>
                <a:defRPr b="0" i="0" strike="noStrike" sz="10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74151"/>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74151"/>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7F9FC"/>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jamie</a:t>
            </a:r>
            <a:endParaRPr/>
          </a:p>
          <a:p>
            <a:pPr indent="0" lvl="0" marL="0" rtl="0" algn="l">
              <a:spcBef>
                <a:spcPts val="0"/>
              </a:spcBef>
              <a:spcAft>
                <a:spcPts val="0"/>
              </a:spcAft>
              <a:buNone/>
            </a:pPr>
            <a:r>
              <a:rPr lang="en-US" sz="1600"/>
              <a:t>a way to improve how companies evaluate and hire new candidates</a:t>
            </a:r>
            <a:endParaRPr sz="1600"/>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jamie</a:t>
            </a:r>
            <a:endParaRPr/>
          </a:p>
          <a:p>
            <a:pPr indent="-336550" lvl="0" marL="457200" rtl="0" algn="l">
              <a:lnSpc>
                <a:spcPct val="115000"/>
              </a:lnSpc>
              <a:spcBef>
                <a:spcPts val="1200"/>
              </a:spcBef>
              <a:spcAft>
                <a:spcPts val="0"/>
              </a:spcAft>
              <a:buSzPts val="1700"/>
              <a:buAutoNum type="arabicPeriod"/>
            </a:pPr>
            <a:r>
              <a:rPr lang="en-US" sz="1500"/>
              <a:t>First, keyword filtering fails. Most ATS systems rely on exact word matches, not meaning. So strong candidates can get filtered out just because they describe their skills differently, which is why the majority of resumes are never even seen by a human.</a:t>
            </a:r>
            <a:endParaRPr sz="1500"/>
          </a:p>
          <a:p>
            <a:pPr indent="-336550" lvl="0" marL="457200" rtl="0" algn="l">
              <a:lnSpc>
                <a:spcPct val="115000"/>
              </a:lnSpc>
              <a:spcBef>
                <a:spcPts val="0"/>
              </a:spcBef>
              <a:spcAft>
                <a:spcPts val="0"/>
              </a:spcAft>
              <a:buSzPts val="1700"/>
              <a:buAutoNum type="arabicPeriod"/>
            </a:pPr>
            <a:r>
              <a:rPr lang="en-US" sz="1500"/>
              <a:t>Second, there’s no transparency. Recruiters get ranked lists of candidates, but they don’t actually know why someone is ranked higher or lower. </a:t>
            </a:r>
            <a:endParaRPr sz="1500"/>
          </a:p>
          <a:p>
            <a:pPr indent="-336550" lvl="0" marL="457200" rtl="0" algn="l">
              <a:lnSpc>
                <a:spcPct val="115000"/>
              </a:lnSpc>
              <a:spcBef>
                <a:spcPts val="0"/>
              </a:spcBef>
              <a:spcAft>
                <a:spcPts val="0"/>
              </a:spcAft>
              <a:buSzPts val="1700"/>
              <a:buAutoNum type="arabicPeriod"/>
            </a:pPr>
            <a:r>
              <a:rPr lang="en-US" sz="1500"/>
              <a:t>And third, the process is very time-consuming. Manually reviewing hundreds of resumes can take weeks, which slows hiring down and often leads to losing top candidates to faster-moving companies. </a:t>
            </a:r>
            <a:endParaRPr sz="1500"/>
          </a:p>
          <a:p>
            <a:pPr indent="0" lvl="0" marL="0" rtl="0" algn="l">
              <a:lnSpc>
                <a:spcPct val="115000"/>
              </a:lnSpc>
              <a:spcBef>
                <a:spcPts val="1200"/>
              </a:spcBef>
              <a:spcAft>
                <a:spcPts val="0"/>
              </a:spcAft>
              <a:buNone/>
            </a:pPr>
            <a:r>
              <a:rPr lang="en-US" sz="1500"/>
              <a:t>this is all what we are trying to fix</a:t>
            </a:r>
            <a:endParaRPr sz="1500"/>
          </a:p>
          <a:p>
            <a:pPr indent="0" lvl="0" marL="0" rtl="0" algn="l">
              <a:spcBef>
                <a:spcPts val="1200"/>
              </a:spcBef>
              <a:spcAft>
                <a:spcPts val="0"/>
              </a:spcAft>
              <a:buNone/>
            </a:pPr>
            <a:r>
              <a:t/>
            </a:r>
            <a:endParaRPr/>
          </a:p>
        </p:txBody>
      </p:sp>
      <p:sp>
        <p:nvSpPr>
          <p:cNvPr id="79" name="Google Shape;7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jamie</a:t>
            </a:r>
            <a:endParaRPr/>
          </a:p>
          <a:p>
            <a:pPr indent="-336550" lvl="0" marL="457200" rtl="0" algn="l">
              <a:spcBef>
                <a:spcPts val="0"/>
              </a:spcBef>
              <a:spcAft>
                <a:spcPts val="0"/>
              </a:spcAft>
              <a:buSzPts val="1700"/>
              <a:buAutoNum type="arabicPeriod"/>
            </a:pPr>
            <a:r>
              <a:rPr lang="en-US" sz="1500"/>
              <a:t>first is semantic resume matching. instead of matching by key words we match by meaning</a:t>
            </a:r>
            <a:endParaRPr sz="1500"/>
          </a:p>
          <a:p>
            <a:pPr indent="-336550" lvl="0" marL="457200" rtl="0" algn="l">
              <a:lnSpc>
                <a:spcPct val="115000"/>
              </a:lnSpc>
              <a:spcBef>
                <a:spcPts val="0"/>
              </a:spcBef>
              <a:spcAft>
                <a:spcPts val="0"/>
              </a:spcAft>
              <a:buSzPts val="1700"/>
              <a:buAutoNum type="arabicPeriod"/>
            </a:pPr>
            <a:r>
              <a:rPr lang="en-US" sz="1500"/>
              <a:t>every candidate gets an explainable score from 0 to 100, along with a breakdown of their strengths, skill gaps, and overall fit. So recruiters actually understand why someone is ranked a certain way.</a:t>
            </a:r>
            <a:endParaRPr sz="1500"/>
          </a:p>
          <a:p>
            <a:pPr indent="-336550" lvl="0" marL="457200" rtl="0" algn="l">
              <a:spcBef>
                <a:spcPts val="0"/>
              </a:spcBef>
              <a:spcAft>
                <a:spcPts val="0"/>
              </a:spcAft>
              <a:buSzPts val="1700"/>
              <a:buAutoNum type="arabicPeriod"/>
            </a:pPr>
            <a:r>
              <a:rPr lang="en-US" sz="1500"/>
              <a:t>We also generate targeted interview questions for each candidate based on their background and the job description, which saves time and helps standardize the process.</a:t>
            </a:r>
            <a:endParaRPr sz="1500"/>
          </a:p>
          <a:p>
            <a:pPr indent="-336550" lvl="0" marL="457200" rtl="0" algn="l">
              <a:spcBef>
                <a:spcPts val="0"/>
              </a:spcBef>
              <a:spcAft>
                <a:spcPts val="0"/>
              </a:spcAft>
              <a:buSzPts val="1700"/>
              <a:buAutoNum type="arabicPeriod"/>
            </a:pPr>
            <a:r>
              <a:rPr lang="en-US" sz="1500"/>
              <a:t>recruiters can easily upload resumes or pull job descriptions directly from a URL, so it fits into their existing workflow.</a:t>
            </a:r>
            <a:endParaRPr sz="1500"/>
          </a:p>
          <a:p>
            <a:pPr indent="-336550" lvl="0" marL="457200" rtl="0" algn="l">
              <a:spcBef>
                <a:spcPts val="0"/>
              </a:spcBef>
              <a:spcAft>
                <a:spcPts val="0"/>
              </a:spcAft>
              <a:buSzPts val="1700"/>
              <a:buAutoNum type="arabicPeriod"/>
            </a:pPr>
            <a:r>
              <a:rPr lang="en-US" sz="1500"/>
              <a:t>We also run analysis through both ChatGPT and Claude and compare results side-by-side to improve consistency and reliability.</a:t>
            </a:r>
            <a:endParaRPr sz="1500"/>
          </a:p>
          <a:p>
            <a:pPr indent="-336550" lvl="0" marL="457200" rtl="0" algn="l">
              <a:spcBef>
                <a:spcPts val="0"/>
              </a:spcBef>
              <a:spcAft>
                <a:spcPts val="0"/>
              </a:spcAft>
              <a:buSzPts val="1700"/>
              <a:buAutoNum type="arabicPeriod"/>
            </a:pPr>
            <a:r>
              <a:rPr lang="en-US" sz="1500"/>
              <a:t>finally, full transparency — recruiters can click into a candidate and see exactly which parts of the resume were used in the analysis</a:t>
            </a:r>
            <a:endParaRPr sz="1500"/>
          </a:p>
        </p:txBody>
      </p:sp>
      <p:sp>
        <p:nvSpPr>
          <p:cNvPr id="112" name="Google Shape;11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457200" rtl="0" algn="l">
              <a:spcBef>
                <a:spcPts val="0"/>
              </a:spcBef>
              <a:spcAft>
                <a:spcPts val="0"/>
              </a:spcAft>
              <a:buNone/>
            </a:pPr>
            <a:r>
              <a:rPr lang="en-US"/>
              <a:t>Walkthrough pipeline step by step:</a:t>
            </a:r>
            <a:endParaRPr/>
          </a:p>
          <a:p>
            <a:pPr indent="-317500" lvl="0" marL="457200" rtl="0" algn="l">
              <a:spcBef>
                <a:spcPts val="0"/>
              </a:spcBef>
              <a:spcAft>
                <a:spcPts val="0"/>
              </a:spcAft>
              <a:buSzPts val="1400"/>
              <a:buAutoNum type="arabicPeriod"/>
            </a:pPr>
            <a:r>
              <a:rPr lang="en-US"/>
              <a:t>Upload resume and job description (supports various file formats)</a:t>
            </a:r>
            <a:endParaRPr/>
          </a:p>
          <a:p>
            <a:pPr indent="-317500" lvl="0" marL="457200" rtl="0" algn="l">
              <a:spcBef>
                <a:spcPts val="0"/>
              </a:spcBef>
              <a:spcAft>
                <a:spcPts val="0"/>
              </a:spcAft>
              <a:buSzPts val="1400"/>
              <a:buAutoNum type="arabicPeriod"/>
            </a:pPr>
            <a:r>
              <a:rPr lang="en-US"/>
              <a:t>Break the text into chunks</a:t>
            </a:r>
            <a:endParaRPr/>
          </a:p>
          <a:p>
            <a:pPr indent="-317500" lvl="0" marL="457200" rtl="0" algn="l">
              <a:spcBef>
                <a:spcPts val="0"/>
              </a:spcBef>
              <a:spcAft>
                <a:spcPts val="0"/>
              </a:spcAft>
              <a:buSzPts val="1400"/>
              <a:buAutoNum type="arabicPeriod"/>
            </a:pPr>
            <a:r>
              <a:rPr lang="en-US"/>
              <a:t>Encode each chunk into vector </a:t>
            </a:r>
            <a:r>
              <a:rPr lang="en-US"/>
              <a:t>representation</a:t>
            </a:r>
            <a:endParaRPr/>
          </a:p>
          <a:p>
            <a:pPr indent="-317500" lvl="0" marL="457200" rtl="0" algn="l">
              <a:spcBef>
                <a:spcPts val="0"/>
              </a:spcBef>
              <a:spcAft>
                <a:spcPts val="0"/>
              </a:spcAft>
              <a:buSzPts val="1400"/>
              <a:buAutoNum type="arabicPeriod"/>
            </a:pPr>
            <a:r>
              <a:rPr lang="en-US"/>
              <a:t>Use cosine </a:t>
            </a:r>
            <a:r>
              <a:rPr lang="en-US"/>
              <a:t>similarity</a:t>
            </a:r>
            <a:r>
              <a:rPr lang="en-US"/>
              <a:t> to compare with job description</a:t>
            </a:r>
            <a:endParaRPr/>
          </a:p>
          <a:p>
            <a:pPr indent="-317500" lvl="0" marL="457200" rtl="0" algn="l">
              <a:spcBef>
                <a:spcPts val="0"/>
              </a:spcBef>
              <a:spcAft>
                <a:spcPts val="0"/>
              </a:spcAft>
              <a:buSzPts val="1400"/>
              <a:buAutoNum type="arabicPeriod"/>
            </a:pPr>
            <a:r>
              <a:rPr lang="en-US"/>
              <a:t>Select most relevant chunks</a:t>
            </a:r>
            <a:endParaRPr/>
          </a:p>
          <a:p>
            <a:pPr indent="-317500" lvl="0" marL="457200" rtl="0" algn="l">
              <a:spcBef>
                <a:spcPts val="0"/>
              </a:spcBef>
              <a:spcAft>
                <a:spcPts val="0"/>
              </a:spcAft>
              <a:buSzPts val="1400"/>
              <a:buAutoNum type="arabicPeriod"/>
            </a:pPr>
            <a:r>
              <a:rPr lang="en-US"/>
              <a:t>Pass to LLM -&gt; Outputs ranking based on 0-100 score &amp; more details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process selects the most relevant chunks from the resume before passing into the LLM.</a:t>
            </a:r>
            <a:endParaRPr/>
          </a:p>
          <a:p>
            <a:pPr indent="0" lvl="0" marL="0" rtl="0" algn="l">
              <a:spcBef>
                <a:spcPts val="0"/>
              </a:spcBef>
              <a:spcAft>
                <a:spcPts val="0"/>
              </a:spcAft>
              <a:buNone/>
            </a:pPr>
            <a:r>
              <a:t/>
            </a:r>
            <a:endParaRPr/>
          </a:p>
        </p:txBody>
      </p:sp>
      <p:sp>
        <p:nvSpPr>
          <p:cNvPr id="157" name="Google Shape;15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Implements chunking, keyword-based embeddings, and cosine similarity to retrieve the most relevant resume sections </a:t>
            </a:r>
            <a:endParaRPr/>
          </a:p>
        </p:txBody>
      </p:sp>
      <p:sp>
        <p:nvSpPr>
          <p:cNvPr id="215" name="Google Shape;2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Sends the most relevant content from resume to LLMs </a:t>
            </a:r>
            <a:endParaRPr/>
          </a:p>
        </p:txBody>
      </p:sp>
      <p:sp>
        <p:nvSpPr>
          <p:cNvPr id="232" name="Google Shape;2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9" name="Google Shape;24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4" name="Google Shape;30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5" name="Google Shape;33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1"/>
          <p:cNvSpPr/>
          <p:nvPr/>
        </p:nvSpPr>
        <p:spPr>
          <a:xfrm>
            <a:off x="5303520" y="-914400"/>
            <a:ext cx="5943600" cy="5943600"/>
          </a:xfrm>
          <a:prstGeom prst="ellipse">
            <a:avLst/>
          </a:prstGeom>
          <a:solidFill>
            <a:srgbClr val="2563EB">
              <a:alpha val="12156"/>
            </a:srgbClr>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6400800" y="457200"/>
            <a:ext cx="3474720" cy="3474720"/>
          </a:xfrm>
          <a:prstGeom prst="ellipse">
            <a:avLst/>
          </a:prstGeom>
          <a:solidFill>
            <a:srgbClr val="7C3AED">
              <a:alpha val="9019"/>
            </a:srgbClr>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0" y="0"/>
            <a:ext cx="64008"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292608" y="914400"/>
            <a:ext cx="2926080" cy="274320"/>
          </a:xfrm>
          <a:prstGeom prst="rect">
            <a:avLst/>
          </a:prstGeom>
          <a:solidFill>
            <a:srgbClr val="2563EB">
              <a:alpha val="20000"/>
            </a:srgbClr>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292608" y="914400"/>
            <a:ext cx="29260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C5FD"/>
              </a:buClr>
              <a:buSzPts val="700"/>
              <a:buFont typeface="Calibri"/>
              <a:buNone/>
            </a:pPr>
            <a:r>
              <a:rPr b="1" i="0" lang="en-US" sz="700" u="none" cap="none" strike="noStrike">
                <a:solidFill>
                  <a:srgbClr val="93C5FD"/>
                </a:solidFill>
                <a:latin typeface="Calibri"/>
                <a:ea typeface="Calibri"/>
                <a:cs typeface="Calibri"/>
                <a:sym typeface="Calibri"/>
              </a:rPr>
              <a:t>AI-POWERED TALENT INTELLIGENCE PLATFORM</a:t>
            </a:r>
            <a:endParaRPr b="0" i="0" sz="700" u="none" cap="none" strike="noStrike">
              <a:solidFill>
                <a:schemeClr val="dk1"/>
              </a:solidFill>
              <a:latin typeface="Calibri"/>
              <a:ea typeface="Calibri"/>
              <a:cs typeface="Calibri"/>
              <a:sym typeface="Calibri"/>
            </a:endParaRPr>
          </a:p>
        </p:txBody>
      </p:sp>
      <p:sp>
        <p:nvSpPr>
          <p:cNvPr id="21" name="Google Shape;21;p1"/>
          <p:cNvSpPr/>
          <p:nvPr/>
        </p:nvSpPr>
        <p:spPr>
          <a:xfrm>
            <a:off x="292608" y="1325880"/>
            <a:ext cx="731520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HireSense AI</a:t>
            </a:r>
            <a:endParaRPr b="0" i="0" sz="5600" u="none" cap="none" strike="noStrike">
              <a:solidFill>
                <a:schemeClr val="dk1"/>
              </a:solidFill>
              <a:latin typeface="Calibri"/>
              <a:ea typeface="Calibri"/>
              <a:cs typeface="Calibri"/>
              <a:sym typeface="Calibri"/>
            </a:endParaRPr>
          </a:p>
        </p:txBody>
      </p:sp>
      <p:sp>
        <p:nvSpPr>
          <p:cNvPr id="22" name="Google Shape;22;p1"/>
          <p:cNvSpPr/>
          <p:nvPr/>
        </p:nvSpPr>
        <p:spPr>
          <a:xfrm>
            <a:off x="292608" y="2414016"/>
            <a:ext cx="658368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3C5FD"/>
              </a:buClr>
              <a:buSzPts val="1500"/>
              <a:buFont typeface="Calibri"/>
              <a:buNone/>
            </a:pPr>
            <a:r>
              <a:rPr b="0" i="0" lang="en-US" sz="1500" u="none" cap="none" strike="noStrike">
                <a:solidFill>
                  <a:srgbClr val="93C5FD"/>
                </a:solidFill>
                <a:latin typeface="Calibri"/>
                <a:ea typeface="Calibri"/>
                <a:cs typeface="Calibri"/>
                <a:sym typeface="Calibri"/>
              </a:rPr>
              <a:t>Matching the right people to the right roles — faster, fairer, and with full transparency.</a:t>
            </a:r>
            <a:endParaRPr b="0" i="0" sz="1500" u="none" cap="none" strike="noStrike">
              <a:solidFill>
                <a:schemeClr val="dk1"/>
              </a:solidFill>
              <a:latin typeface="Calibri"/>
              <a:ea typeface="Calibri"/>
              <a:cs typeface="Calibri"/>
              <a:sym typeface="Calibri"/>
            </a:endParaRPr>
          </a:p>
        </p:txBody>
      </p:sp>
      <p:sp>
        <p:nvSpPr>
          <p:cNvPr id="23" name="Google Shape;23;p1"/>
          <p:cNvSpPr/>
          <p:nvPr/>
        </p:nvSpPr>
        <p:spPr>
          <a:xfrm>
            <a:off x="292608" y="3017520"/>
            <a:ext cx="6583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1000"/>
              <a:buFont typeface="Calibri"/>
              <a:buNone/>
            </a:pPr>
            <a:r>
              <a:rPr b="0" i="0" lang="en-US" sz="1000" u="none" cap="none" strike="noStrike">
                <a:solidFill>
                  <a:srgbClr val="7B8FB0"/>
                </a:solidFill>
                <a:latin typeface="Calibri"/>
                <a:ea typeface="Calibri"/>
                <a:cs typeface="Calibri"/>
                <a:sym typeface="Calibri"/>
              </a:rPr>
              <a:t>MAS 691 — Large Language Models  |  April 2026</a:t>
            </a:r>
            <a:endParaRPr b="0" i="0" sz="1000" u="none" cap="none" strike="noStrike">
              <a:solidFill>
                <a:schemeClr val="dk1"/>
              </a:solidFill>
              <a:latin typeface="Calibri"/>
              <a:ea typeface="Calibri"/>
              <a:cs typeface="Calibri"/>
              <a:sym typeface="Calibri"/>
            </a:endParaRPr>
          </a:p>
        </p:txBody>
      </p:sp>
      <p:sp>
        <p:nvSpPr>
          <p:cNvPr id="24" name="Google Shape;24;p1"/>
          <p:cNvSpPr/>
          <p:nvPr/>
        </p:nvSpPr>
        <p:spPr>
          <a:xfrm>
            <a:off x="292608" y="3529584"/>
            <a:ext cx="1148486" cy="256032"/>
          </a:xfrm>
          <a:prstGeom prst="rect">
            <a:avLst/>
          </a:prstGeom>
          <a:solidFill>
            <a:srgbClr val="3B82F6">
              <a:alpha val="21960"/>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292608" y="3529584"/>
            <a:ext cx="1148486"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B82F6"/>
              </a:buClr>
              <a:buSzPts val="800"/>
              <a:buFont typeface="Calibri"/>
              <a:buNone/>
            </a:pPr>
            <a:r>
              <a:rPr b="1" i="0" lang="en-US" sz="800" u="none" cap="none" strike="noStrike">
                <a:solidFill>
                  <a:srgbClr val="3B82F6"/>
                </a:solidFill>
                <a:latin typeface="Calibri"/>
                <a:ea typeface="Calibri"/>
                <a:cs typeface="Calibri"/>
                <a:sym typeface="Calibri"/>
              </a:rPr>
              <a:t>RAG Pipeline</a:t>
            </a:r>
            <a:endParaRPr b="0" i="0" sz="800" u="none" cap="none" strike="noStrike">
              <a:solidFill>
                <a:schemeClr val="dk1"/>
              </a:solidFill>
              <a:latin typeface="Calibri"/>
              <a:ea typeface="Calibri"/>
              <a:cs typeface="Calibri"/>
              <a:sym typeface="Calibri"/>
            </a:endParaRPr>
          </a:p>
        </p:txBody>
      </p:sp>
      <p:sp>
        <p:nvSpPr>
          <p:cNvPr id="26" name="Google Shape;26;p1"/>
          <p:cNvSpPr/>
          <p:nvPr/>
        </p:nvSpPr>
        <p:spPr>
          <a:xfrm>
            <a:off x="1532534" y="3529584"/>
            <a:ext cx="1527962" cy="256032"/>
          </a:xfrm>
          <a:prstGeom prst="rect">
            <a:avLst/>
          </a:prstGeom>
          <a:solidFill>
            <a:srgbClr val="14B8A6">
              <a:alpha val="21960"/>
            </a:srgbClr>
          </a:solidFill>
          <a:ln cap="flat" cmpd="sng" w="12700">
            <a:solidFill>
              <a:srgbClr val="14B8A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p:nvPr/>
        </p:nvSpPr>
        <p:spPr>
          <a:xfrm>
            <a:off x="1532534" y="3529584"/>
            <a:ext cx="152796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4B8A6"/>
              </a:buClr>
              <a:buSzPts val="800"/>
              <a:buFont typeface="Calibri"/>
              <a:buNone/>
            </a:pPr>
            <a:r>
              <a:rPr b="1" i="0" lang="en-US" sz="800" u="none" cap="none" strike="noStrike">
                <a:solidFill>
                  <a:srgbClr val="14B8A6"/>
                </a:solidFill>
                <a:latin typeface="Calibri"/>
                <a:ea typeface="Calibri"/>
                <a:cs typeface="Calibri"/>
                <a:sym typeface="Calibri"/>
              </a:rPr>
              <a:t>Cosine Similarity</a:t>
            </a:r>
            <a:endParaRPr b="0" i="0" sz="800" u="none" cap="none" strike="noStrike">
              <a:solidFill>
                <a:schemeClr val="dk1"/>
              </a:solidFill>
              <a:latin typeface="Calibri"/>
              <a:ea typeface="Calibri"/>
              <a:cs typeface="Calibri"/>
              <a:sym typeface="Calibri"/>
            </a:endParaRPr>
          </a:p>
        </p:txBody>
      </p:sp>
      <p:sp>
        <p:nvSpPr>
          <p:cNvPr id="28" name="Google Shape;28;p1"/>
          <p:cNvSpPr/>
          <p:nvPr/>
        </p:nvSpPr>
        <p:spPr>
          <a:xfrm>
            <a:off x="3151937" y="3529584"/>
            <a:ext cx="1224382" cy="256032"/>
          </a:xfrm>
          <a:prstGeom prst="rect">
            <a:avLst/>
          </a:prstGeom>
          <a:solidFill>
            <a:srgbClr val="34D399">
              <a:alpha val="21960"/>
            </a:srgbClr>
          </a:solidFill>
          <a:ln cap="flat" cmpd="sng" w="12700">
            <a:solidFill>
              <a:srgbClr val="34D39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3151937" y="3529584"/>
            <a:ext cx="122438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4D399"/>
              </a:buClr>
              <a:buSzPts val="800"/>
              <a:buFont typeface="Calibri"/>
              <a:buNone/>
            </a:pPr>
            <a:r>
              <a:rPr b="1" i="0" lang="en-US" sz="800" u="none" cap="none" strike="noStrike">
                <a:solidFill>
                  <a:srgbClr val="34D399"/>
                </a:solidFill>
                <a:latin typeface="Calibri"/>
                <a:ea typeface="Calibri"/>
                <a:cs typeface="Calibri"/>
                <a:sym typeface="Calibri"/>
              </a:rPr>
              <a:t>OpenAI GPT-4o</a:t>
            </a:r>
            <a:endParaRPr b="0" i="0" sz="800" u="none" cap="none" strike="noStrike">
              <a:solidFill>
                <a:schemeClr val="dk1"/>
              </a:solidFill>
              <a:latin typeface="Calibri"/>
              <a:ea typeface="Calibri"/>
              <a:cs typeface="Calibri"/>
              <a:sym typeface="Calibri"/>
            </a:endParaRPr>
          </a:p>
        </p:txBody>
      </p:sp>
      <p:sp>
        <p:nvSpPr>
          <p:cNvPr id="30" name="Google Shape;30;p1"/>
          <p:cNvSpPr/>
          <p:nvPr/>
        </p:nvSpPr>
        <p:spPr>
          <a:xfrm>
            <a:off x="4467758" y="3529584"/>
            <a:ext cx="1452067" cy="256032"/>
          </a:xfrm>
          <a:prstGeom prst="rect">
            <a:avLst/>
          </a:prstGeom>
          <a:solidFill>
            <a:srgbClr val="FB923C">
              <a:alpha val="21960"/>
            </a:srgbClr>
          </a:solidFill>
          <a:ln cap="flat" cmpd="sng" w="12700">
            <a:solidFill>
              <a:srgbClr val="FB92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p:nvPr/>
        </p:nvSpPr>
        <p:spPr>
          <a:xfrm>
            <a:off x="4467758" y="3529584"/>
            <a:ext cx="1452067"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B923C"/>
              </a:buClr>
              <a:buSzPts val="800"/>
              <a:buFont typeface="Calibri"/>
              <a:buNone/>
            </a:pPr>
            <a:r>
              <a:rPr b="1" i="0" lang="en-US" sz="800" u="none" cap="none" strike="noStrike">
                <a:solidFill>
                  <a:srgbClr val="FB923C"/>
                </a:solidFill>
                <a:latin typeface="Calibri"/>
                <a:ea typeface="Calibri"/>
                <a:cs typeface="Calibri"/>
                <a:sym typeface="Calibri"/>
              </a:rPr>
              <a:t>Anthropic Claude</a:t>
            </a:r>
            <a:endParaRPr b="0" i="0" sz="800" u="none" cap="none" strike="noStrike">
              <a:solidFill>
                <a:schemeClr val="dk1"/>
              </a:solidFill>
              <a:latin typeface="Calibri"/>
              <a:ea typeface="Calibri"/>
              <a:cs typeface="Calibri"/>
              <a:sym typeface="Calibri"/>
            </a:endParaRPr>
          </a:p>
        </p:txBody>
      </p:sp>
      <p:sp>
        <p:nvSpPr>
          <p:cNvPr id="32" name="Google Shape;32;p1"/>
          <p:cNvSpPr/>
          <p:nvPr/>
        </p:nvSpPr>
        <p:spPr>
          <a:xfrm>
            <a:off x="6011266" y="3529584"/>
            <a:ext cx="1831543" cy="256032"/>
          </a:xfrm>
          <a:prstGeom prst="rect">
            <a:avLst/>
          </a:prstGeom>
          <a:solidFill>
            <a:srgbClr val="A78BFA">
              <a:alpha val="21960"/>
            </a:srgbClr>
          </a:solidFill>
          <a:ln cap="flat" cmpd="sng" w="12700">
            <a:solidFill>
              <a:srgbClr val="A78B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
          <p:cNvSpPr/>
          <p:nvPr/>
        </p:nvSpPr>
        <p:spPr>
          <a:xfrm>
            <a:off x="6011266" y="3529584"/>
            <a:ext cx="1831543"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78BFA"/>
              </a:buClr>
              <a:buSzPts val="800"/>
              <a:buFont typeface="Calibri"/>
              <a:buNone/>
            </a:pPr>
            <a:r>
              <a:rPr b="1" i="0" lang="en-US" sz="800" u="none" cap="none" strike="noStrike">
                <a:solidFill>
                  <a:srgbClr val="A78BFA"/>
                </a:solidFill>
                <a:latin typeface="Calibri"/>
                <a:ea typeface="Calibri"/>
                <a:cs typeface="Calibri"/>
                <a:sym typeface="Calibri"/>
              </a:rPr>
              <a:t>Python · Dash · Colab</a:t>
            </a:r>
            <a:endParaRPr b="0" i="0" sz="800" u="none" cap="none" strike="noStrike">
              <a:solidFill>
                <a:schemeClr val="dk1"/>
              </a:solidFill>
              <a:latin typeface="Calibri"/>
              <a:ea typeface="Calibri"/>
              <a:cs typeface="Calibri"/>
              <a:sym typeface="Calibri"/>
            </a:endParaRPr>
          </a:p>
        </p:txBody>
      </p:sp>
      <p:sp>
        <p:nvSpPr>
          <p:cNvPr id="34" name="Google Shape;34;p1"/>
          <p:cNvSpPr/>
          <p:nvPr/>
        </p:nvSpPr>
        <p:spPr>
          <a:xfrm>
            <a:off x="292608" y="4709160"/>
            <a:ext cx="859536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900"/>
              <a:buFont typeface="Calibri"/>
              <a:buNone/>
            </a:pPr>
            <a:r>
              <a:rPr b="0" i="0" lang="en-US" sz="900" u="none" cap="none" strike="noStrike">
                <a:solidFill>
                  <a:srgbClr val="7B8FB0"/>
                </a:solidFill>
                <a:latin typeface="Calibri"/>
                <a:ea typeface="Calibri"/>
                <a:cs typeface="Calibri"/>
                <a:sym typeface="Calibri"/>
              </a:rPr>
              <a:t>Waleed El-Jack  ·  Kristofor Figueiredo  ·  Kevin Ordet  ·  Jamie Shook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39" name="Shape 39"/>
        <p:cNvGrpSpPr/>
        <p:nvPr/>
      </p:nvGrpSpPr>
      <p:grpSpPr>
        <a:xfrm>
          <a:off x="0" y="0"/>
          <a:ext cx="0" cy="0"/>
          <a:chOff x="0" y="0"/>
          <a:chExt cx="0" cy="0"/>
        </a:xfrm>
      </p:grpSpPr>
      <p:sp>
        <p:nvSpPr>
          <p:cNvPr id="40" name="Google Shape;40;p9"/>
          <p:cNvSpPr/>
          <p:nvPr/>
        </p:nvSpPr>
        <p:spPr>
          <a:xfrm>
            <a:off x="0" y="0"/>
            <a:ext cx="9144000" cy="54864"/>
          </a:xfrm>
          <a:prstGeom prst="rect">
            <a:avLst/>
          </a:prstGeom>
          <a:solidFill>
            <a:srgbClr val="C2410C"/>
          </a:solidFill>
          <a:ln cap="flat" cmpd="sng" w="12700">
            <a:solidFill>
              <a:srgbClr val="C241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9"/>
          <p:cNvSpPr/>
          <p:nvPr/>
        </p:nvSpPr>
        <p:spPr>
          <a:xfrm>
            <a:off x="0" y="0"/>
            <a:ext cx="64008" cy="5143500"/>
          </a:xfrm>
          <a:prstGeom prst="rect">
            <a:avLst/>
          </a:prstGeom>
          <a:solidFill>
            <a:srgbClr val="C2410C"/>
          </a:solidFill>
          <a:ln cap="flat" cmpd="sng" w="12700">
            <a:solidFill>
              <a:srgbClr val="C2410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9"/>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2410C"/>
              </a:buClr>
              <a:buSzPts val="900"/>
              <a:buFont typeface="Calibri"/>
              <a:buNone/>
            </a:pPr>
            <a:r>
              <a:rPr b="1" i="0" lang="en-US" sz="900" u="none" cap="none" strike="noStrike">
                <a:solidFill>
                  <a:srgbClr val="C2410C"/>
                </a:solidFill>
                <a:latin typeface="Calibri"/>
                <a:ea typeface="Calibri"/>
                <a:cs typeface="Calibri"/>
                <a:sym typeface="Calibri"/>
              </a:rPr>
              <a:t>THE TEAM</a:t>
            </a:r>
            <a:endParaRPr b="0" i="0" sz="900" u="none" cap="none" strike="noStrike">
              <a:solidFill>
                <a:schemeClr val="dk1"/>
              </a:solidFill>
              <a:latin typeface="Calibri"/>
              <a:ea typeface="Calibri"/>
              <a:cs typeface="Calibri"/>
              <a:sym typeface="Calibri"/>
            </a:endParaRPr>
          </a:p>
        </p:txBody>
      </p:sp>
      <p:sp>
        <p:nvSpPr>
          <p:cNvPr id="43" name="Google Shape;43;p9"/>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Meet the Team</a:t>
            </a:r>
            <a:endParaRPr b="0" i="0" sz="3000" u="none" cap="none" strike="noStrike">
              <a:solidFill>
                <a:schemeClr val="dk1"/>
              </a:solidFill>
              <a:latin typeface="Calibri"/>
              <a:ea typeface="Calibri"/>
              <a:cs typeface="Calibri"/>
              <a:sym typeface="Calibri"/>
            </a:endParaRPr>
          </a:p>
        </p:txBody>
      </p:sp>
      <p:sp>
        <p:nvSpPr>
          <p:cNvPr id="44" name="Google Shape;44;p9"/>
          <p:cNvSpPr/>
          <p:nvPr/>
        </p:nvSpPr>
        <p:spPr>
          <a:xfrm>
            <a:off x="292608" y="1207008"/>
            <a:ext cx="4206240" cy="1737360"/>
          </a:xfrm>
          <a:prstGeom prst="rect">
            <a:avLst/>
          </a:prstGeom>
          <a:solidFill>
            <a:srgbClr val="FFFFFF"/>
          </a:solidFill>
          <a:ln cap="flat" cmpd="sng" w="15225">
            <a:solidFill>
              <a:srgbClr val="2563EB"/>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9"/>
          <p:cNvSpPr/>
          <p:nvPr/>
        </p:nvSpPr>
        <p:spPr>
          <a:xfrm>
            <a:off x="292608" y="1207008"/>
            <a:ext cx="4206240" cy="4572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a:off x="457200" y="1371600"/>
            <a:ext cx="658368" cy="658368"/>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a:off x="457200" y="137160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WE</a:t>
            </a:r>
            <a:endParaRPr b="0" i="0" sz="1600" u="none" cap="none" strike="noStrike">
              <a:solidFill>
                <a:schemeClr val="dk1"/>
              </a:solidFill>
              <a:latin typeface="Calibri"/>
              <a:ea typeface="Calibri"/>
              <a:cs typeface="Calibri"/>
              <a:sym typeface="Calibri"/>
            </a:endParaRPr>
          </a:p>
        </p:txBody>
      </p:sp>
      <p:sp>
        <p:nvSpPr>
          <p:cNvPr id="48" name="Google Shape;48;p9"/>
          <p:cNvSpPr/>
          <p:nvPr/>
        </p:nvSpPr>
        <p:spPr>
          <a:xfrm>
            <a:off x="1261872" y="1371600"/>
            <a:ext cx="30906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00"/>
              <a:buFont typeface="Calibri"/>
              <a:buNone/>
            </a:pPr>
            <a:r>
              <a:rPr b="1" i="0" lang="en-US" sz="1200" u="none" cap="none" strike="noStrike">
                <a:solidFill>
                  <a:srgbClr val="0F1F3D"/>
                </a:solidFill>
                <a:latin typeface="Calibri"/>
                <a:ea typeface="Calibri"/>
                <a:cs typeface="Calibri"/>
                <a:sym typeface="Calibri"/>
              </a:rPr>
              <a:t>Waleed El-Jack</a:t>
            </a:r>
            <a:endParaRPr b="0" i="0" sz="1200" u="none" cap="none" strike="noStrike">
              <a:solidFill>
                <a:schemeClr val="dk1"/>
              </a:solidFill>
              <a:latin typeface="Calibri"/>
              <a:ea typeface="Calibri"/>
              <a:cs typeface="Calibri"/>
              <a:sym typeface="Calibri"/>
            </a:endParaRPr>
          </a:p>
        </p:txBody>
      </p:sp>
      <p:sp>
        <p:nvSpPr>
          <p:cNvPr id="49" name="Google Shape;49;p9"/>
          <p:cNvSpPr/>
          <p:nvPr/>
        </p:nvSpPr>
        <p:spPr>
          <a:xfrm>
            <a:off x="1261872" y="1645920"/>
            <a:ext cx="3090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50"/>
              <a:buFont typeface="Calibri"/>
              <a:buNone/>
            </a:pPr>
            <a:r>
              <a:rPr b="1" i="0" lang="en-US" sz="950" u="none" cap="none" strike="noStrike">
                <a:solidFill>
                  <a:srgbClr val="2563EB"/>
                </a:solidFill>
                <a:latin typeface="Calibri"/>
                <a:ea typeface="Calibri"/>
                <a:cs typeface="Calibri"/>
                <a:sym typeface="Calibri"/>
              </a:rPr>
              <a:t>Data Pipeline Lead</a:t>
            </a:r>
            <a:endParaRPr b="0" i="0" sz="950" u="none" cap="none" strike="noStrike">
              <a:solidFill>
                <a:schemeClr val="dk1"/>
              </a:solidFill>
              <a:latin typeface="Calibri"/>
              <a:ea typeface="Calibri"/>
              <a:cs typeface="Calibri"/>
              <a:sym typeface="Calibri"/>
            </a:endParaRPr>
          </a:p>
        </p:txBody>
      </p:sp>
      <p:cxnSp>
        <p:nvCxnSpPr>
          <p:cNvPr id="50" name="Google Shape;50;p9"/>
          <p:cNvCxnSpPr/>
          <p:nvPr/>
        </p:nvCxnSpPr>
        <p:spPr>
          <a:xfrm>
            <a:off x="457200" y="2084832"/>
            <a:ext cx="3877056" cy="0"/>
          </a:xfrm>
          <a:prstGeom prst="straightConnector1">
            <a:avLst/>
          </a:prstGeom>
          <a:noFill/>
          <a:ln cap="flat" cmpd="sng" w="9525">
            <a:solidFill>
              <a:srgbClr val="DDE3EE"/>
            </a:solidFill>
            <a:prstDash val="solid"/>
            <a:round/>
            <a:headEnd len="sm" w="sm" type="none"/>
            <a:tailEnd len="sm" w="sm" type="none"/>
          </a:ln>
        </p:spPr>
      </p:cxnSp>
      <p:sp>
        <p:nvSpPr>
          <p:cNvPr id="51" name="Google Shape;51;p9"/>
          <p:cNvSpPr/>
          <p:nvPr/>
        </p:nvSpPr>
        <p:spPr>
          <a:xfrm>
            <a:off x="457200" y="2157984"/>
            <a:ext cx="3877056"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Built</a:t>
            </a:r>
            <a:r>
              <a:rPr b="0" i="0" lang="en-US" sz="880" u="none" cap="none" strike="noStrike">
                <a:solidFill>
                  <a:srgbClr val="374151"/>
                </a:solidFill>
                <a:latin typeface="Calibri"/>
                <a:ea typeface="Calibri"/>
                <a:cs typeface="Calibri"/>
                <a:sym typeface="Calibri"/>
              </a:rPr>
              <a:t> the data backbone</a:t>
            </a:r>
            <a:r>
              <a:rPr lang="en-US" sz="880">
                <a:solidFill>
                  <a:srgbClr val="374151"/>
                </a:solidFill>
                <a:latin typeface="Calibri"/>
                <a:ea typeface="Calibri"/>
                <a:cs typeface="Calibri"/>
                <a:sym typeface="Calibri"/>
              </a:rPr>
              <a:t>: handling resume and job data, setting up the database, and preparing for analysis.</a:t>
            </a:r>
            <a:endParaRPr b="0" i="0" sz="880" u="none" cap="none" strike="noStrike">
              <a:solidFill>
                <a:schemeClr val="dk1"/>
              </a:solidFill>
              <a:latin typeface="Calibri"/>
              <a:ea typeface="Calibri"/>
              <a:cs typeface="Calibri"/>
              <a:sym typeface="Calibri"/>
            </a:endParaRPr>
          </a:p>
        </p:txBody>
      </p:sp>
      <p:sp>
        <p:nvSpPr>
          <p:cNvPr id="52" name="Google Shape;52;p9"/>
          <p:cNvSpPr/>
          <p:nvPr/>
        </p:nvSpPr>
        <p:spPr>
          <a:xfrm>
            <a:off x="4718304" y="1207008"/>
            <a:ext cx="4206240" cy="1737360"/>
          </a:xfrm>
          <a:prstGeom prst="rect">
            <a:avLst/>
          </a:prstGeom>
          <a:solidFill>
            <a:srgbClr val="FFFFFF"/>
          </a:solidFill>
          <a:ln cap="flat" cmpd="sng" w="15225">
            <a:solidFill>
              <a:srgbClr val="0D9488"/>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p:nvPr/>
        </p:nvSpPr>
        <p:spPr>
          <a:xfrm>
            <a:off x="4718304" y="1207008"/>
            <a:ext cx="4206240" cy="4572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9"/>
          <p:cNvSpPr/>
          <p:nvPr/>
        </p:nvSpPr>
        <p:spPr>
          <a:xfrm>
            <a:off x="4882896" y="1371600"/>
            <a:ext cx="658368" cy="658368"/>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4882896" y="137160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KO</a:t>
            </a:r>
            <a:endParaRPr b="0" i="0" sz="1600" u="none" cap="none" strike="noStrike">
              <a:solidFill>
                <a:schemeClr val="dk1"/>
              </a:solidFill>
              <a:latin typeface="Calibri"/>
              <a:ea typeface="Calibri"/>
              <a:cs typeface="Calibri"/>
              <a:sym typeface="Calibri"/>
            </a:endParaRPr>
          </a:p>
        </p:txBody>
      </p:sp>
      <p:sp>
        <p:nvSpPr>
          <p:cNvPr id="56" name="Google Shape;56;p9"/>
          <p:cNvSpPr/>
          <p:nvPr/>
        </p:nvSpPr>
        <p:spPr>
          <a:xfrm>
            <a:off x="5687568" y="1371600"/>
            <a:ext cx="30906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00"/>
              <a:buFont typeface="Calibri"/>
              <a:buNone/>
            </a:pPr>
            <a:r>
              <a:rPr b="1" i="0" lang="en-US" sz="1200" u="none" cap="none" strike="noStrike">
                <a:solidFill>
                  <a:srgbClr val="0F1F3D"/>
                </a:solidFill>
                <a:latin typeface="Calibri"/>
                <a:ea typeface="Calibri"/>
                <a:cs typeface="Calibri"/>
                <a:sym typeface="Calibri"/>
              </a:rPr>
              <a:t>Kevin Ordet</a:t>
            </a:r>
            <a:endParaRPr b="0" i="0" sz="1200" u="none" cap="none" strike="noStrike">
              <a:solidFill>
                <a:schemeClr val="dk1"/>
              </a:solidFill>
              <a:latin typeface="Calibri"/>
              <a:ea typeface="Calibri"/>
              <a:cs typeface="Calibri"/>
              <a:sym typeface="Calibri"/>
            </a:endParaRPr>
          </a:p>
        </p:txBody>
      </p:sp>
      <p:sp>
        <p:nvSpPr>
          <p:cNvPr id="57" name="Google Shape;57;p9"/>
          <p:cNvSpPr/>
          <p:nvPr/>
        </p:nvSpPr>
        <p:spPr>
          <a:xfrm>
            <a:off x="5687568" y="1645920"/>
            <a:ext cx="3090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50"/>
              <a:buFont typeface="Calibri"/>
              <a:buNone/>
            </a:pPr>
            <a:r>
              <a:rPr b="1" i="0" lang="en-US" sz="950" u="none" cap="none" strike="noStrike">
                <a:solidFill>
                  <a:srgbClr val="0D9488"/>
                </a:solidFill>
                <a:latin typeface="Calibri"/>
                <a:ea typeface="Calibri"/>
                <a:cs typeface="Calibri"/>
                <a:sym typeface="Calibri"/>
              </a:rPr>
              <a:t>RAG &amp; Prompt Engineer</a:t>
            </a:r>
            <a:endParaRPr b="0" i="0" sz="950" u="none" cap="none" strike="noStrike">
              <a:solidFill>
                <a:schemeClr val="dk1"/>
              </a:solidFill>
              <a:latin typeface="Calibri"/>
              <a:ea typeface="Calibri"/>
              <a:cs typeface="Calibri"/>
              <a:sym typeface="Calibri"/>
            </a:endParaRPr>
          </a:p>
        </p:txBody>
      </p:sp>
      <p:cxnSp>
        <p:nvCxnSpPr>
          <p:cNvPr id="58" name="Google Shape;58;p9"/>
          <p:cNvCxnSpPr/>
          <p:nvPr/>
        </p:nvCxnSpPr>
        <p:spPr>
          <a:xfrm>
            <a:off x="4882896" y="2084832"/>
            <a:ext cx="3877056" cy="0"/>
          </a:xfrm>
          <a:prstGeom prst="straightConnector1">
            <a:avLst/>
          </a:prstGeom>
          <a:noFill/>
          <a:ln cap="flat" cmpd="sng" w="9525">
            <a:solidFill>
              <a:srgbClr val="DDE3EE"/>
            </a:solidFill>
            <a:prstDash val="solid"/>
            <a:round/>
            <a:headEnd len="sm" w="sm" type="none"/>
            <a:tailEnd len="sm" w="sm" type="none"/>
          </a:ln>
        </p:spPr>
      </p:cxnSp>
      <p:sp>
        <p:nvSpPr>
          <p:cNvPr id="59" name="Google Shape;59;p9"/>
          <p:cNvSpPr/>
          <p:nvPr/>
        </p:nvSpPr>
        <p:spPr>
          <a:xfrm>
            <a:off x="4882896" y="2157984"/>
            <a:ext cx="3877056"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Designed</a:t>
            </a:r>
            <a:r>
              <a:rPr b="0" i="0" lang="en-US" sz="880" u="none" cap="none" strike="noStrike">
                <a:solidFill>
                  <a:srgbClr val="374151"/>
                </a:solidFill>
                <a:latin typeface="Calibri"/>
                <a:ea typeface="Calibri"/>
                <a:cs typeface="Calibri"/>
                <a:sym typeface="Calibri"/>
              </a:rPr>
              <a:t> the retrieval system</a:t>
            </a:r>
            <a:r>
              <a:rPr lang="en-US" sz="880">
                <a:solidFill>
                  <a:srgbClr val="374151"/>
                </a:solidFill>
                <a:latin typeface="Calibri"/>
                <a:ea typeface="Calibri"/>
                <a:cs typeface="Calibri"/>
                <a:sym typeface="Calibri"/>
              </a:rPr>
              <a:t>: </a:t>
            </a:r>
            <a:r>
              <a:rPr b="0" i="0" lang="en-US" sz="880" u="none" cap="none" strike="noStrike">
                <a:solidFill>
                  <a:srgbClr val="374151"/>
                </a:solidFill>
                <a:latin typeface="Calibri"/>
                <a:ea typeface="Calibri"/>
                <a:cs typeface="Calibri"/>
                <a:sym typeface="Calibri"/>
              </a:rPr>
              <a:t>cosine similarity ranking, top-k chunk selection, and crafting the LLM scoring prompts.</a:t>
            </a:r>
            <a:endParaRPr b="0" i="0" sz="880" u="none" cap="none" strike="noStrike">
              <a:solidFill>
                <a:schemeClr val="dk1"/>
              </a:solidFill>
              <a:latin typeface="Calibri"/>
              <a:ea typeface="Calibri"/>
              <a:cs typeface="Calibri"/>
              <a:sym typeface="Calibri"/>
            </a:endParaRPr>
          </a:p>
        </p:txBody>
      </p:sp>
      <p:sp>
        <p:nvSpPr>
          <p:cNvPr id="60" name="Google Shape;60;p9"/>
          <p:cNvSpPr/>
          <p:nvPr/>
        </p:nvSpPr>
        <p:spPr>
          <a:xfrm>
            <a:off x="292608" y="3081528"/>
            <a:ext cx="4206240" cy="1737360"/>
          </a:xfrm>
          <a:prstGeom prst="rect">
            <a:avLst/>
          </a:prstGeom>
          <a:solidFill>
            <a:srgbClr val="FFFFFF"/>
          </a:solidFill>
          <a:ln cap="flat" cmpd="sng" w="15225">
            <a:solidFill>
              <a:srgbClr val="7C3AED"/>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p:nvPr/>
        </p:nvSpPr>
        <p:spPr>
          <a:xfrm>
            <a:off x="292608" y="3081528"/>
            <a:ext cx="4206240" cy="4572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p:nvPr/>
        </p:nvSpPr>
        <p:spPr>
          <a:xfrm>
            <a:off x="457200" y="3246120"/>
            <a:ext cx="658368" cy="658368"/>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9"/>
          <p:cNvSpPr/>
          <p:nvPr/>
        </p:nvSpPr>
        <p:spPr>
          <a:xfrm>
            <a:off x="457200" y="324612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KF</a:t>
            </a:r>
            <a:endParaRPr b="0" i="0" sz="1600" u="none" cap="none" strike="noStrike">
              <a:solidFill>
                <a:schemeClr val="dk1"/>
              </a:solidFill>
              <a:latin typeface="Calibri"/>
              <a:ea typeface="Calibri"/>
              <a:cs typeface="Calibri"/>
              <a:sym typeface="Calibri"/>
            </a:endParaRPr>
          </a:p>
        </p:txBody>
      </p:sp>
      <p:sp>
        <p:nvSpPr>
          <p:cNvPr id="64" name="Google Shape;64;p9"/>
          <p:cNvSpPr/>
          <p:nvPr/>
        </p:nvSpPr>
        <p:spPr>
          <a:xfrm>
            <a:off x="1261872" y="3246120"/>
            <a:ext cx="30906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00"/>
              <a:buFont typeface="Calibri"/>
              <a:buNone/>
            </a:pPr>
            <a:r>
              <a:rPr b="1" i="0" lang="en-US" sz="1200" u="none" cap="none" strike="noStrike">
                <a:solidFill>
                  <a:srgbClr val="0F1F3D"/>
                </a:solidFill>
                <a:latin typeface="Calibri"/>
                <a:ea typeface="Calibri"/>
                <a:cs typeface="Calibri"/>
                <a:sym typeface="Calibri"/>
              </a:rPr>
              <a:t>Kristofor Figueiredo</a:t>
            </a:r>
            <a:endParaRPr b="0" i="0" sz="1200" u="none" cap="none" strike="noStrike">
              <a:solidFill>
                <a:schemeClr val="dk1"/>
              </a:solidFill>
              <a:latin typeface="Calibri"/>
              <a:ea typeface="Calibri"/>
              <a:cs typeface="Calibri"/>
              <a:sym typeface="Calibri"/>
            </a:endParaRPr>
          </a:p>
        </p:txBody>
      </p:sp>
      <p:sp>
        <p:nvSpPr>
          <p:cNvPr id="65" name="Google Shape;65;p9"/>
          <p:cNvSpPr/>
          <p:nvPr/>
        </p:nvSpPr>
        <p:spPr>
          <a:xfrm>
            <a:off x="1261872" y="3520440"/>
            <a:ext cx="3090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950"/>
              <a:buFont typeface="Calibri"/>
              <a:buNone/>
            </a:pPr>
            <a:r>
              <a:rPr b="1" i="0" lang="en-US" sz="950" u="none" cap="none" strike="noStrike">
                <a:solidFill>
                  <a:srgbClr val="7C3AED"/>
                </a:solidFill>
                <a:latin typeface="Calibri"/>
                <a:ea typeface="Calibri"/>
                <a:cs typeface="Calibri"/>
                <a:sym typeface="Calibri"/>
              </a:rPr>
              <a:t>LLM Scoring Engine</a:t>
            </a:r>
            <a:endParaRPr b="0" i="0" sz="950" u="none" cap="none" strike="noStrike">
              <a:solidFill>
                <a:schemeClr val="dk1"/>
              </a:solidFill>
              <a:latin typeface="Calibri"/>
              <a:ea typeface="Calibri"/>
              <a:cs typeface="Calibri"/>
              <a:sym typeface="Calibri"/>
            </a:endParaRPr>
          </a:p>
        </p:txBody>
      </p:sp>
      <p:cxnSp>
        <p:nvCxnSpPr>
          <p:cNvPr id="66" name="Google Shape;66;p9"/>
          <p:cNvCxnSpPr/>
          <p:nvPr/>
        </p:nvCxnSpPr>
        <p:spPr>
          <a:xfrm>
            <a:off x="457200" y="3959352"/>
            <a:ext cx="3877056" cy="0"/>
          </a:xfrm>
          <a:prstGeom prst="straightConnector1">
            <a:avLst/>
          </a:prstGeom>
          <a:noFill/>
          <a:ln cap="flat" cmpd="sng" w="9525">
            <a:solidFill>
              <a:srgbClr val="DDE3EE"/>
            </a:solidFill>
            <a:prstDash val="solid"/>
            <a:round/>
            <a:headEnd len="sm" w="sm" type="none"/>
            <a:tailEnd len="sm" w="sm" type="none"/>
          </a:ln>
        </p:spPr>
      </p:cxnSp>
      <p:sp>
        <p:nvSpPr>
          <p:cNvPr id="67" name="Google Shape;67;p9"/>
          <p:cNvSpPr/>
          <p:nvPr/>
        </p:nvSpPr>
        <p:spPr>
          <a:xfrm>
            <a:off x="457200" y="4032504"/>
            <a:ext cx="3877056"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Constructed</a:t>
            </a:r>
            <a:r>
              <a:rPr b="0" i="0" lang="en-US" sz="880" u="none" cap="none" strike="noStrike">
                <a:solidFill>
                  <a:srgbClr val="374151"/>
                </a:solidFill>
                <a:latin typeface="Calibri"/>
                <a:ea typeface="Calibri"/>
                <a:cs typeface="Calibri"/>
                <a:sym typeface="Calibri"/>
              </a:rPr>
              <a:t> the LLM output layer</a:t>
            </a:r>
            <a:r>
              <a:rPr lang="en-US" sz="880">
                <a:solidFill>
                  <a:srgbClr val="374151"/>
                </a:solidFill>
                <a:latin typeface="Calibri"/>
                <a:ea typeface="Calibri"/>
                <a:cs typeface="Calibri"/>
                <a:sym typeface="Calibri"/>
              </a:rPr>
              <a:t>: </a:t>
            </a:r>
            <a:r>
              <a:rPr b="0" i="0" lang="en-US" sz="880" u="none" cap="none" strike="noStrike">
                <a:solidFill>
                  <a:srgbClr val="374151"/>
                </a:solidFill>
                <a:latin typeface="Calibri"/>
                <a:ea typeface="Calibri"/>
                <a:cs typeface="Calibri"/>
                <a:sym typeface="Calibri"/>
              </a:rPr>
              <a:t>structuring JSON responses, skill gap analysis, and integrating OpenAI and Anthropic APIs.</a:t>
            </a:r>
            <a:endParaRPr b="0" i="0" sz="880" u="none" cap="none" strike="noStrike">
              <a:solidFill>
                <a:schemeClr val="dk1"/>
              </a:solidFill>
              <a:latin typeface="Calibri"/>
              <a:ea typeface="Calibri"/>
              <a:cs typeface="Calibri"/>
              <a:sym typeface="Calibri"/>
            </a:endParaRPr>
          </a:p>
        </p:txBody>
      </p:sp>
      <p:sp>
        <p:nvSpPr>
          <p:cNvPr id="68" name="Google Shape;68;p9"/>
          <p:cNvSpPr/>
          <p:nvPr/>
        </p:nvSpPr>
        <p:spPr>
          <a:xfrm>
            <a:off x="4718304" y="3081528"/>
            <a:ext cx="4206240" cy="1737360"/>
          </a:xfrm>
          <a:prstGeom prst="rect">
            <a:avLst/>
          </a:prstGeom>
          <a:solidFill>
            <a:srgbClr val="FFFFFF"/>
          </a:solidFill>
          <a:ln cap="flat" cmpd="sng" w="15225">
            <a:solidFill>
              <a:srgbClr val="D9770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9"/>
          <p:cNvSpPr/>
          <p:nvPr/>
        </p:nvSpPr>
        <p:spPr>
          <a:xfrm>
            <a:off x="4718304" y="3081528"/>
            <a:ext cx="4206240" cy="4572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9"/>
          <p:cNvSpPr/>
          <p:nvPr/>
        </p:nvSpPr>
        <p:spPr>
          <a:xfrm>
            <a:off x="4882896" y="3246120"/>
            <a:ext cx="658368" cy="658368"/>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9"/>
          <p:cNvSpPr/>
          <p:nvPr/>
        </p:nvSpPr>
        <p:spPr>
          <a:xfrm>
            <a:off x="4882896" y="324612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JS</a:t>
            </a:r>
            <a:endParaRPr b="0" i="0" sz="1600" u="none" cap="none" strike="noStrike">
              <a:solidFill>
                <a:schemeClr val="dk1"/>
              </a:solidFill>
              <a:latin typeface="Calibri"/>
              <a:ea typeface="Calibri"/>
              <a:cs typeface="Calibri"/>
              <a:sym typeface="Calibri"/>
            </a:endParaRPr>
          </a:p>
        </p:txBody>
      </p:sp>
      <p:sp>
        <p:nvSpPr>
          <p:cNvPr id="72" name="Google Shape;72;p9"/>
          <p:cNvSpPr/>
          <p:nvPr/>
        </p:nvSpPr>
        <p:spPr>
          <a:xfrm>
            <a:off x="5687568" y="3246120"/>
            <a:ext cx="309067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00"/>
              <a:buFont typeface="Calibri"/>
              <a:buNone/>
            </a:pPr>
            <a:r>
              <a:rPr b="1" i="0" lang="en-US" sz="1200" u="none" cap="none" strike="noStrike">
                <a:solidFill>
                  <a:srgbClr val="0F1F3D"/>
                </a:solidFill>
                <a:latin typeface="Calibri"/>
                <a:ea typeface="Calibri"/>
                <a:cs typeface="Calibri"/>
                <a:sym typeface="Calibri"/>
              </a:rPr>
              <a:t>Jamie Shook</a:t>
            </a:r>
            <a:endParaRPr b="0" i="0" sz="1200" u="none" cap="none" strike="noStrike">
              <a:solidFill>
                <a:schemeClr val="dk1"/>
              </a:solidFill>
              <a:latin typeface="Calibri"/>
              <a:ea typeface="Calibri"/>
              <a:cs typeface="Calibri"/>
              <a:sym typeface="Calibri"/>
            </a:endParaRPr>
          </a:p>
        </p:txBody>
      </p:sp>
      <p:sp>
        <p:nvSpPr>
          <p:cNvPr id="73" name="Google Shape;73;p9"/>
          <p:cNvSpPr/>
          <p:nvPr/>
        </p:nvSpPr>
        <p:spPr>
          <a:xfrm>
            <a:off x="5687568" y="3520440"/>
            <a:ext cx="3090672"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950"/>
              <a:buFont typeface="Calibri"/>
              <a:buNone/>
            </a:pPr>
            <a:r>
              <a:rPr b="1" lang="en-US" sz="950">
                <a:solidFill>
                  <a:srgbClr val="D97706"/>
                </a:solidFill>
                <a:latin typeface="Calibri"/>
                <a:ea typeface="Calibri"/>
                <a:cs typeface="Calibri"/>
                <a:sym typeface="Calibri"/>
              </a:rPr>
              <a:t>Product &amp; Evaluation</a:t>
            </a:r>
            <a:endParaRPr b="0" i="0" sz="950" u="none" cap="none" strike="noStrike">
              <a:solidFill>
                <a:schemeClr val="dk1"/>
              </a:solidFill>
              <a:latin typeface="Calibri"/>
              <a:ea typeface="Calibri"/>
              <a:cs typeface="Calibri"/>
              <a:sym typeface="Calibri"/>
            </a:endParaRPr>
          </a:p>
        </p:txBody>
      </p:sp>
      <p:cxnSp>
        <p:nvCxnSpPr>
          <p:cNvPr id="74" name="Google Shape;74;p9"/>
          <p:cNvCxnSpPr/>
          <p:nvPr/>
        </p:nvCxnSpPr>
        <p:spPr>
          <a:xfrm>
            <a:off x="4882896" y="3959352"/>
            <a:ext cx="3877056" cy="0"/>
          </a:xfrm>
          <a:prstGeom prst="straightConnector1">
            <a:avLst/>
          </a:prstGeom>
          <a:noFill/>
          <a:ln cap="flat" cmpd="sng" w="9525">
            <a:solidFill>
              <a:srgbClr val="DDE3EE"/>
            </a:solidFill>
            <a:prstDash val="solid"/>
            <a:round/>
            <a:headEnd len="sm" w="sm" type="none"/>
            <a:tailEnd len="sm" w="sm" type="none"/>
          </a:ln>
        </p:spPr>
      </p:cxnSp>
      <p:sp>
        <p:nvSpPr>
          <p:cNvPr id="75" name="Google Shape;75;p9"/>
          <p:cNvSpPr/>
          <p:nvPr/>
        </p:nvSpPr>
        <p:spPr>
          <a:xfrm>
            <a:off x="4882896" y="4032504"/>
            <a:ext cx="3877056"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Focused on the user experience: building the dashboard, testing performance, and pulling everything together for the final product.</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2"/>
          <p:cNvSpPr/>
          <p:nvPr/>
        </p:nvSpPr>
        <p:spPr>
          <a:xfrm>
            <a:off x="0" y="0"/>
            <a:ext cx="9144000" cy="54864"/>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0" y="0"/>
            <a:ext cx="64008" cy="514350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900"/>
              <a:buFont typeface="Calibri"/>
              <a:buNone/>
            </a:pPr>
            <a:r>
              <a:rPr b="1" i="0" lang="en-US" sz="900" u="none" cap="none" strike="noStrike">
                <a:solidFill>
                  <a:srgbClr val="DC2626"/>
                </a:solidFill>
                <a:latin typeface="Calibri"/>
                <a:ea typeface="Calibri"/>
                <a:cs typeface="Calibri"/>
                <a:sym typeface="Calibri"/>
              </a:rPr>
              <a:t>THE PROBLEM</a:t>
            </a:r>
            <a:endParaRPr b="0" i="0" sz="900" u="none" cap="none" strike="noStrike">
              <a:solidFill>
                <a:schemeClr val="dk1"/>
              </a:solidFill>
              <a:latin typeface="Calibri"/>
              <a:ea typeface="Calibri"/>
              <a:cs typeface="Calibri"/>
              <a:sym typeface="Calibri"/>
            </a:endParaRPr>
          </a:p>
        </p:txBody>
      </p:sp>
      <p:sp>
        <p:nvSpPr>
          <p:cNvPr id="84" name="Google Shape;84;p2"/>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Hiring Is Broken</a:t>
            </a:r>
            <a:endParaRPr b="0" i="0" sz="3000" u="none" cap="none" strike="noStrike">
              <a:solidFill>
                <a:schemeClr val="dk1"/>
              </a:solidFill>
              <a:latin typeface="Calibri"/>
              <a:ea typeface="Calibri"/>
              <a:cs typeface="Calibri"/>
              <a:sym typeface="Calibri"/>
            </a:endParaRPr>
          </a:p>
        </p:txBody>
      </p:sp>
      <p:sp>
        <p:nvSpPr>
          <p:cNvPr id="85" name="Google Shape;85;p2"/>
          <p:cNvSpPr/>
          <p:nvPr/>
        </p:nvSpPr>
        <p:spPr>
          <a:xfrm>
            <a:off x="292608" y="1261872"/>
            <a:ext cx="2743200" cy="3657600"/>
          </a:xfrm>
          <a:prstGeom prst="rect">
            <a:avLst/>
          </a:prstGeom>
          <a:solidFill>
            <a:srgbClr val="FFFFFF"/>
          </a:solidFill>
          <a:ln cap="flat" cmpd="sng" w="15225">
            <a:solidFill>
              <a:srgbClr val="DC262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
          <p:cNvSpPr/>
          <p:nvPr/>
        </p:nvSpPr>
        <p:spPr>
          <a:xfrm>
            <a:off x="292608" y="1261872"/>
            <a:ext cx="2743200" cy="4572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
          <p:cNvSpPr/>
          <p:nvPr/>
        </p:nvSpPr>
        <p:spPr>
          <a:xfrm>
            <a:off x="292608" y="1371600"/>
            <a:ext cx="731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88" name="Google Shape;88;p2"/>
          <p:cNvSpPr/>
          <p:nvPr/>
        </p:nvSpPr>
        <p:spPr>
          <a:xfrm>
            <a:off x="402336" y="2029968"/>
            <a:ext cx="25237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50"/>
              <a:buFont typeface="Calibri"/>
              <a:buNone/>
            </a:pPr>
            <a:r>
              <a:rPr b="1" i="0" lang="en-US" sz="1250" u="none" cap="none" strike="noStrike">
                <a:solidFill>
                  <a:srgbClr val="0F1F3D"/>
                </a:solidFill>
                <a:latin typeface="Calibri"/>
                <a:ea typeface="Calibri"/>
                <a:cs typeface="Calibri"/>
                <a:sym typeface="Calibri"/>
              </a:rPr>
              <a:t>Keyword Filtering Fails</a:t>
            </a:r>
            <a:endParaRPr b="0" i="0" sz="1250" u="none" cap="none" strike="noStrike">
              <a:solidFill>
                <a:schemeClr val="dk1"/>
              </a:solidFill>
              <a:latin typeface="Calibri"/>
              <a:ea typeface="Calibri"/>
              <a:cs typeface="Calibri"/>
              <a:sym typeface="Calibri"/>
            </a:endParaRPr>
          </a:p>
        </p:txBody>
      </p:sp>
      <p:sp>
        <p:nvSpPr>
          <p:cNvPr id="89" name="Google Shape;89;p2"/>
          <p:cNvSpPr/>
          <p:nvPr/>
        </p:nvSpPr>
        <p:spPr>
          <a:xfrm>
            <a:off x="402336" y="2404872"/>
            <a:ext cx="2523744"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950"/>
              <a:buFont typeface="Calibri"/>
              <a:buNone/>
            </a:pPr>
            <a:r>
              <a:rPr b="0" i="0" lang="en-US" sz="950" u="none" cap="none" strike="noStrike">
                <a:solidFill>
                  <a:srgbClr val="374151"/>
                </a:solidFill>
                <a:latin typeface="Calibri"/>
                <a:ea typeface="Calibri"/>
                <a:cs typeface="Calibri"/>
                <a:sym typeface="Calibri"/>
              </a:rPr>
              <a:t>ATS systems reject qualified candidates who describe skills differently. A Python expert </a:t>
            </a:r>
            <a:r>
              <a:rPr b="0" i="0" lang="en-US" sz="950" u="none" cap="none" strike="noStrike">
                <a:solidFill>
                  <a:srgbClr val="374151"/>
                </a:solidFill>
                <a:latin typeface="Calibri"/>
                <a:ea typeface="Calibri"/>
                <a:cs typeface="Calibri"/>
                <a:sym typeface="Calibri"/>
              </a:rPr>
              <a:t>writing </a:t>
            </a:r>
            <a:r>
              <a:rPr lang="en-US" sz="950">
                <a:solidFill>
                  <a:srgbClr val="374151"/>
                </a:solidFill>
                <a:latin typeface="Calibri"/>
                <a:ea typeface="Calibri"/>
                <a:cs typeface="Calibri"/>
                <a:sym typeface="Calibri"/>
              </a:rPr>
              <a:t>“s</a:t>
            </a:r>
            <a:r>
              <a:rPr b="0" i="0" lang="en-US" sz="950" u="none" cap="none" strike="noStrike">
                <a:solidFill>
                  <a:srgbClr val="374151"/>
                </a:solidFill>
                <a:latin typeface="Calibri"/>
                <a:ea typeface="Calibri"/>
                <a:cs typeface="Calibri"/>
                <a:sym typeface="Calibri"/>
              </a:rPr>
              <a:t>cripting</a:t>
            </a:r>
            <a:r>
              <a:rPr lang="en-US" sz="950">
                <a:solidFill>
                  <a:srgbClr val="374151"/>
                </a:solidFill>
                <a:latin typeface="Calibri"/>
                <a:ea typeface="Calibri"/>
                <a:cs typeface="Calibri"/>
                <a:sym typeface="Calibri"/>
              </a:rPr>
              <a:t>”</a:t>
            </a:r>
            <a:r>
              <a:rPr b="0" i="0" lang="en-US" sz="950" u="none" cap="none" strike="noStrike">
                <a:solidFill>
                  <a:srgbClr val="374151"/>
                </a:solidFill>
                <a:latin typeface="Calibri"/>
                <a:ea typeface="Calibri"/>
                <a:cs typeface="Calibri"/>
                <a:sym typeface="Calibri"/>
              </a:rPr>
              <a:t> gets eliminated before any human sees their resume.</a:t>
            </a:r>
            <a:endParaRPr b="0" i="0" sz="950" u="none" cap="none" strike="noStrike">
              <a:solidFill>
                <a:schemeClr val="dk1"/>
              </a:solidFill>
              <a:latin typeface="Calibri"/>
              <a:ea typeface="Calibri"/>
              <a:cs typeface="Calibri"/>
              <a:sym typeface="Calibri"/>
            </a:endParaRPr>
          </a:p>
        </p:txBody>
      </p:sp>
      <p:sp>
        <p:nvSpPr>
          <p:cNvPr id="90" name="Google Shape;90;p2"/>
          <p:cNvSpPr/>
          <p:nvPr/>
        </p:nvSpPr>
        <p:spPr>
          <a:xfrm>
            <a:off x="402336" y="3657600"/>
            <a:ext cx="2523744" cy="1005840"/>
          </a:xfrm>
          <a:prstGeom prst="rect">
            <a:avLst/>
          </a:prstGeom>
          <a:solidFill>
            <a:srgbClr val="DC2626">
              <a:alpha val="10196"/>
            </a:srgbClr>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402336" y="3703320"/>
            <a:ext cx="25237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2626"/>
              </a:buClr>
              <a:buSzPts val="2600"/>
              <a:buFont typeface="Calibri"/>
              <a:buNone/>
            </a:pPr>
            <a:r>
              <a:rPr b="1" i="0" lang="en-US" sz="2600" u="none" cap="none" strike="noStrike">
                <a:solidFill>
                  <a:srgbClr val="DC2626"/>
                </a:solidFill>
                <a:latin typeface="Calibri"/>
                <a:ea typeface="Calibri"/>
                <a:cs typeface="Calibri"/>
                <a:sym typeface="Calibri"/>
              </a:rPr>
              <a:t>75%</a:t>
            </a:r>
            <a:endParaRPr b="0" i="0" sz="2600" u="none" cap="none" strike="noStrike">
              <a:solidFill>
                <a:schemeClr val="dk1"/>
              </a:solidFill>
              <a:latin typeface="Calibri"/>
              <a:ea typeface="Calibri"/>
              <a:cs typeface="Calibri"/>
              <a:sym typeface="Calibri"/>
            </a:endParaRPr>
          </a:p>
        </p:txBody>
      </p:sp>
      <p:sp>
        <p:nvSpPr>
          <p:cNvPr id="92" name="Google Shape;92;p2"/>
          <p:cNvSpPr/>
          <p:nvPr/>
        </p:nvSpPr>
        <p:spPr>
          <a:xfrm>
            <a:off x="402336" y="4178808"/>
            <a:ext cx="25237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of resumes filtered out</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before a human reads them</a:t>
            </a:r>
            <a:endParaRPr b="0" i="0" sz="850" u="none" cap="none" strike="noStrike">
              <a:solidFill>
                <a:schemeClr val="dk1"/>
              </a:solidFill>
              <a:latin typeface="Calibri"/>
              <a:ea typeface="Calibri"/>
              <a:cs typeface="Calibri"/>
              <a:sym typeface="Calibri"/>
            </a:endParaRPr>
          </a:p>
        </p:txBody>
      </p:sp>
      <p:sp>
        <p:nvSpPr>
          <p:cNvPr id="93" name="Google Shape;93;p2"/>
          <p:cNvSpPr/>
          <p:nvPr/>
        </p:nvSpPr>
        <p:spPr>
          <a:xfrm>
            <a:off x="3236976" y="1261872"/>
            <a:ext cx="2743200" cy="3657600"/>
          </a:xfrm>
          <a:prstGeom prst="rect">
            <a:avLst/>
          </a:prstGeom>
          <a:solidFill>
            <a:srgbClr val="FFFFFF"/>
          </a:solidFill>
          <a:ln cap="flat" cmpd="sng" w="15225">
            <a:solidFill>
              <a:srgbClr val="D9770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
          <p:cNvSpPr/>
          <p:nvPr/>
        </p:nvSpPr>
        <p:spPr>
          <a:xfrm>
            <a:off x="3236976" y="1261872"/>
            <a:ext cx="2743200" cy="4572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
          <p:cNvSpPr/>
          <p:nvPr/>
        </p:nvSpPr>
        <p:spPr>
          <a:xfrm>
            <a:off x="3236976" y="1371600"/>
            <a:ext cx="731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96" name="Google Shape;96;p2"/>
          <p:cNvSpPr/>
          <p:nvPr/>
        </p:nvSpPr>
        <p:spPr>
          <a:xfrm>
            <a:off x="3346704" y="2029968"/>
            <a:ext cx="25237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50"/>
              <a:buFont typeface="Calibri"/>
              <a:buNone/>
            </a:pPr>
            <a:r>
              <a:rPr b="1" lang="en-US" sz="1250">
                <a:solidFill>
                  <a:srgbClr val="0F1F3D"/>
                </a:solidFill>
                <a:latin typeface="Calibri"/>
                <a:ea typeface="Calibri"/>
                <a:cs typeface="Calibri"/>
                <a:sym typeface="Calibri"/>
              </a:rPr>
              <a:t>No</a:t>
            </a:r>
            <a:r>
              <a:rPr b="1" i="0" lang="en-US" sz="1250" u="none" cap="none" strike="noStrike">
                <a:solidFill>
                  <a:srgbClr val="0F1F3D"/>
                </a:solidFill>
                <a:latin typeface="Calibri"/>
                <a:ea typeface="Calibri"/>
                <a:cs typeface="Calibri"/>
                <a:sym typeface="Calibri"/>
              </a:rPr>
              <a:t> Transparency</a:t>
            </a:r>
            <a:endParaRPr b="0" i="0" sz="1250" u="none" cap="none" strike="noStrike">
              <a:solidFill>
                <a:schemeClr val="dk1"/>
              </a:solidFill>
              <a:latin typeface="Calibri"/>
              <a:ea typeface="Calibri"/>
              <a:cs typeface="Calibri"/>
              <a:sym typeface="Calibri"/>
            </a:endParaRPr>
          </a:p>
        </p:txBody>
      </p:sp>
      <p:sp>
        <p:nvSpPr>
          <p:cNvPr id="97" name="Google Shape;97;p2"/>
          <p:cNvSpPr/>
          <p:nvPr/>
        </p:nvSpPr>
        <p:spPr>
          <a:xfrm>
            <a:off x="3346704" y="2404872"/>
            <a:ext cx="2523744"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950"/>
              <a:buFont typeface="Calibri"/>
              <a:buNone/>
            </a:pPr>
            <a:r>
              <a:rPr lang="en-US" sz="950">
                <a:solidFill>
                  <a:srgbClr val="374151"/>
                </a:solidFill>
                <a:latin typeface="Calibri"/>
                <a:ea typeface="Calibri"/>
                <a:cs typeface="Calibri"/>
                <a:sym typeface="Calibri"/>
              </a:rPr>
              <a:t>Recruiters</a:t>
            </a:r>
            <a:r>
              <a:rPr b="0" i="0" lang="en-US" sz="950" u="none" cap="none" strike="noStrike">
                <a:solidFill>
                  <a:srgbClr val="374151"/>
                </a:solidFill>
                <a:latin typeface="Calibri"/>
                <a:ea typeface="Calibri"/>
                <a:cs typeface="Calibri"/>
                <a:sym typeface="Calibri"/>
              </a:rPr>
              <a:t> receive ranked lists with no explanation why. Recruiters can't justify decisions or spot when the system is wrong.</a:t>
            </a:r>
            <a:endParaRPr b="0" i="0" sz="950" u="none" cap="none" strike="noStrike">
              <a:solidFill>
                <a:schemeClr val="dk1"/>
              </a:solidFill>
              <a:latin typeface="Calibri"/>
              <a:ea typeface="Calibri"/>
              <a:cs typeface="Calibri"/>
              <a:sym typeface="Calibri"/>
            </a:endParaRPr>
          </a:p>
        </p:txBody>
      </p:sp>
      <p:sp>
        <p:nvSpPr>
          <p:cNvPr id="98" name="Google Shape;98;p2"/>
          <p:cNvSpPr/>
          <p:nvPr/>
        </p:nvSpPr>
        <p:spPr>
          <a:xfrm>
            <a:off x="3346704" y="3657600"/>
            <a:ext cx="2523744" cy="1005840"/>
          </a:xfrm>
          <a:prstGeom prst="rect">
            <a:avLst/>
          </a:prstGeom>
          <a:solidFill>
            <a:srgbClr val="D97706">
              <a:alpha val="10196"/>
            </a:srgbClr>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2"/>
          <p:cNvSpPr/>
          <p:nvPr/>
        </p:nvSpPr>
        <p:spPr>
          <a:xfrm>
            <a:off x="3346704" y="3703320"/>
            <a:ext cx="25237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2600"/>
              <a:buFont typeface="Calibri"/>
              <a:buNone/>
            </a:pPr>
            <a:r>
              <a:rPr b="1" i="0" lang="en-US" sz="2600" u="none" cap="none" strike="noStrike">
                <a:solidFill>
                  <a:srgbClr val="D97706"/>
                </a:solidFill>
                <a:latin typeface="Calibri"/>
                <a:ea typeface="Calibri"/>
                <a:cs typeface="Calibri"/>
                <a:sym typeface="Calibri"/>
              </a:rPr>
              <a:t>88%</a:t>
            </a:r>
            <a:endParaRPr b="0" i="0" sz="2600" u="none" cap="none" strike="noStrike">
              <a:solidFill>
                <a:schemeClr val="dk1"/>
              </a:solidFill>
              <a:latin typeface="Calibri"/>
              <a:ea typeface="Calibri"/>
              <a:cs typeface="Calibri"/>
              <a:sym typeface="Calibri"/>
            </a:endParaRPr>
          </a:p>
        </p:txBody>
      </p:sp>
      <p:sp>
        <p:nvSpPr>
          <p:cNvPr id="100" name="Google Shape;100;p2"/>
          <p:cNvSpPr/>
          <p:nvPr/>
        </p:nvSpPr>
        <p:spPr>
          <a:xfrm>
            <a:off x="3346704" y="4178808"/>
            <a:ext cx="25237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of hiring managers say</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their ATS misses talent</a:t>
            </a:r>
            <a:endParaRPr b="0" i="0" sz="850" u="none" cap="none" strike="noStrike">
              <a:solidFill>
                <a:schemeClr val="dk1"/>
              </a:solidFill>
              <a:latin typeface="Calibri"/>
              <a:ea typeface="Calibri"/>
              <a:cs typeface="Calibri"/>
              <a:sym typeface="Calibri"/>
            </a:endParaRPr>
          </a:p>
        </p:txBody>
      </p:sp>
      <p:sp>
        <p:nvSpPr>
          <p:cNvPr id="101" name="Google Shape;101;p2"/>
          <p:cNvSpPr/>
          <p:nvPr/>
        </p:nvSpPr>
        <p:spPr>
          <a:xfrm>
            <a:off x="6181344" y="1261872"/>
            <a:ext cx="2743200" cy="3657600"/>
          </a:xfrm>
          <a:prstGeom prst="rect">
            <a:avLst/>
          </a:prstGeom>
          <a:solidFill>
            <a:srgbClr val="FFFFFF"/>
          </a:solidFill>
          <a:ln cap="flat" cmpd="sng" w="15225">
            <a:solidFill>
              <a:srgbClr val="7C3AED"/>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
          <p:cNvSpPr/>
          <p:nvPr/>
        </p:nvSpPr>
        <p:spPr>
          <a:xfrm>
            <a:off x="6181344" y="1261872"/>
            <a:ext cx="2743200" cy="4572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
          <p:cNvSpPr/>
          <p:nvPr/>
        </p:nvSpPr>
        <p:spPr>
          <a:xfrm>
            <a:off x="6181344" y="1371600"/>
            <a:ext cx="73152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400"/>
              <a:buFont typeface="Calibri"/>
              <a:buNone/>
            </a:pPr>
            <a:r>
              <a:rPr b="0" i="0" lang="en-US" sz="2400" u="none" cap="none" strike="noStrike">
                <a:solidFill>
                  <a:srgbClr val="000000"/>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04" name="Google Shape;104;p2"/>
          <p:cNvSpPr/>
          <p:nvPr/>
        </p:nvSpPr>
        <p:spPr>
          <a:xfrm>
            <a:off x="6291072" y="2029968"/>
            <a:ext cx="252374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50"/>
              <a:buFont typeface="Calibri"/>
              <a:buNone/>
            </a:pPr>
            <a:r>
              <a:rPr b="1" lang="en-US" sz="1250">
                <a:solidFill>
                  <a:srgbClr val="0F1F3D"/>
                </a:solidFill>
                <a:latin typeface="Calibri"/>
                <a:ea typeface="Calibri"/>
                <a:cs typeface="Calibri"/>
                <a:sym typeface="Calibri"/>
              </a:rPr>
              <a:t>Time-Consuming</a:t>
            </a:r>
            <a:endParaRPr b="0" i="0" sz="1250" u="none" cap="none" strike="noStrike">
              <a:solidFill>
                <a:schemeClr val="dk1"/>
              </a:solidFill>
              <a:latin typeface="Calibri"/>
              <a:ea typeface="Calibri"/>
              <a:cs typeface="Calibri"/>
              <a:sym typeface="Calibri"/>
            </a:endParaRPr>
          </a:p>
        </p:txBody>
      </p:sp>
      <p:sp>
        <p:nvSpPr>
          <p:cNvPr id="105" name="Google Shape;105;p2"/>
          <p:cNvSpPr/>
          <p:nvPr/>
        </p:nvSpPr>
        <p:spPr>
          <a:xfrm>
            <a:off x="6291072" y="2404872"/>
            <a:ext cx="2523744"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950"/>
              <a:buFont typeface="Calibri"/>
              <a:buNone/>
            </a:pPr>
            <a:r>
              <a:rPr b="0" i="0" lang="en-US" sz="950" u="none" cap="none" strike="noStrike">
                <a:solidFill>
                  <a:srgbClr val="374151"/>
                </a:solidFill>
                <a:latin typeface="Calibri"/>
                <a:ea typeface="Calibri"/>
                <a:cs typeface="Calibri"/>
                <a:sym typeface="Calibri"/>
              </a:rPr>
              <a:t>Reviewing hundreds of resumes per role manually costs weeks of recruiter time, slowing down hiring and causing companies to lose top candidates to faster competitors.</a:t>
            </a:r>
            <a:endParaRPr b="0" i="0" sz="950" u="none" cap="none" strike="noStrike">
              <a:solidFill>
                <a:schemeClr val="dk1"/>
              </a:solidFill>
              <a:latin typeface="Calibri"/>
              <a:ea typeface="Calibri"/>
              <a:cs typeface="Calibri"/>
              <a:sym typeface="Calibri"/>
            </a:endParaRPr>
          </a:p>
        </p:txBody>
      </p:sp>
      <p:sp>
        <p:nvSpPr>
          <p:cNvPr id="106" name="Google Shape;106;p2"/>
          <p:cNvSpPr/>
          <p:nvPr/>
        </p:nvSpPr>
        <p:spPr>
          <a:xfrm>
            <a:off x="6291072" y="3657600"/>
            <a:ext cx="2523744" cy="1005840"/>
          </a:xfrm>
          <a:prstGeom prst="rect">
            <a:avLst/>
          </a:prstGeom>
          <a:solidFill>
            <a:srgbClr val="7C3AED">
              <a:alpha val="10196"/>
            </a:srgbClr>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p:nvPr/>
        </p:nvSpPr>
        <p:spPr>
          <a:xfrm>
            <a:off x="6291072" y="3703320"/>
            <a:ext cx="2523744"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2600"/>
              <a:buFont typeface="Calibri"/>
              <a:buNone/>
            </a:pPr>
            <a:r>
              <a:rPr b="1" i="0" lang="en-US" sz="2600" u="none" cap="none" strike="noStrike">
                <a:solidFill>
                  <a:srgbClr val="7C3AED"/>
                </a:solidFill>
                <a:latin typeface="Calibri"/>
                <a:ea typeface="Calibri"/>
                <a:cs typeface="Calibri"/>
                <a:sym typeface="Calibri"/>
              </a:rPr>
              <a:t>23 days</a:t>
            </a:r>
            <a:endParaRPr b="0" i="0" sz="2600" u="none" cap="none" strike="noStrike">
              <a:solidFill>
                <a:schemeClr val="dk1"/>
              </a:solidFill>
              <a:latin typeface="Calibri"/>
              <a:ea typeface="Calibri"/>
              <a:cs typeface="Calibri"/>
              <a:sym typeface="Calibri"/>
            </a:endParaRPr>
          </a:p>
        </p:txBody>
      </p:sp>
      <p:sp>
        <p:nvSpPr>
          <p:cNvPr id="108" name="Google Shape;108;p2"/>
          <p:cNvSpPr/>
          <p:nvPr/>
        </p:nvSpPr>
        <p:spPr>
          <a:xfrm>
            <a:off x="6291072" y="4178808"/>
            <a:ext cx="252374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average time-to-hire</a:t>
            </a:r>
            <a:endParaRPr b="0" i="0" sz="8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B7A99"/>
              </a:buClr>
              <a:buSzPts val="850"/>
              <a:buFont typeface="Calibri"/>
              <a:buNone/>
            </a:pPr>
            <a:r>
              <a:rPr b="0" i="0" lang="en-US" sz="850" u="none" cap="none" strike="noStrike">
                <a:solidFill>
                  <a:srgbClr val="6B7A99"/>
                </a:solidFill>
                <a:latin typeface="Calibri"/>
                <a:ea typeface="Calibri"/>
                <a:cs typeface="Calibri"/>
                <a:sym typeface="Calibri"/>
              </a:rPr>
              <a:t>for tech roles</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p3"/>
          <p:cNvSpPr/>
          <p:nvPr/>
        </p:nvSpPr>
        <p:spPr>
          <a:xfrm>
            <a:off x="0" y="0"/>
            <a:ext cx="9144000" cy="54864"/>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
          <p:cNvSpPr/>
          <p:nvPr/>
        </p:nvSpPr>
        <p:spPr>
          <a:xfrm>
            <a:off x="0" y="0"/>
            <a:ext cx="64008"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900"/>
              <a:buFont typeface="Calibri"/>
              <a:buNone/>
            </a:pPr>
            <a:r>
              <a:rPr b="1" i="0" lang="en-US" sz="900" u="none" cap="none" strike="noStrike">
                <a:solidFill>
                  <a:srgbClr val="2563EB"/>
                </a:solidFill>
                <a:latin typeface="Calibri"/>
                <a:ea typeface="Calibri"/>
                <a:cs typeface="Calibri"/>
                <a:sym typeface="Calibri"/>
              </a:rPr>
              <a:t>WHAT IT DOES</a:t>
            </a:r>
            <a:endParaRPr b="0" i="0" sz="900" u="none" cap="none" strike="noStrike">
              <a:solidFill>
                <a:schemeClr val="dk1"/>
              </a:solidFill>
              <a:latin typeface="Calibri"/>
              <a:ea typeface="Calibri"/>
              <a:cs typeface="Calibri"/>
              <a:sym typeface="Calibri"/>
            </a:endParaRPr>
          </a:p>
        </p:txBody>
      </p:sp>
      <p:sp>
        <p:nvSpPr>
          <p:cNvPr id="117" name="Google Shape;117;p3"/>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HireSense AI — Core </a:t>
            </a:r>
            <a:r>
              <a:rPr b="1" lang="en-US" sz="3000">
                <a:solidFill>
                  <a:srgbClr val="0F1F3D"/>
                </a:solidFill>
                <a:latin typeface="Calibri"/>
                <a:ea typeface="Calibri"/>
                <a:cs typeface="Calibri"/>
                <a:sym typeface="Calibri"/>
              </a:rPr>
              <a:t>Features</a:t>
            </a:r>
            <a:endParaRPr b="0" i="0" sz="3000" u="none" cap="none" strike="noStrike">
              <a:solidFill>
                <a:schemeClr val="dk1"/>
              </a:solidFill>
              <a:latin typeface="Calibri"/>
              <a:ea typeface="Calibri"/>
              <a:cs typeface="Calibri"/>
              <a:sym typeface="Calibri"/>
            </a:endParaRPr>
          </a:p>
        </p:txBody>
      </p:sp>
      <p:sp>
        <p:nvSpPr>
          <p:cNvPr id="118" name="Google Shape;118;p3"/>
          <p:cNvSpPr/>
          <p:nvPr/>
        </p:nvSpPr>
        <p:spPr>
          <a:xfrm>
            <a:off x="292608" y="1261872"/>
            <a:ext cx="2743200" cy="1682496"/>
          </a:xfrm>
          <a:prstGeom prst="rect">
            <a:avLst/>
          </a:prstGeom>
          <a:solidFill>
            <a:srgbClr val="FFFFFF"/>
          </a:solidFill>
          <a:ln cap="flat" cmpd="sng" w="15225">
            <a:solidFill>
              <a:srgbClr val="2563EB"/>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p:nvPr/>
        </p:nvSpPr>
        <p:spPr>
          <a:xfrm>
            <a:off x="292608" y="1261872"/>
            <a:ext cx="2743200" cy="4572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420624" y="1389888"/>
            <a:ext cx="420624" cy="420624"/>
          </a:xfrm>
          <a:prstGeom prst="ellipse">
            <a:avLst/>
          </a:prstGeom>
          <a:solidFill>
            <a:srgbClr val="2563EB">
              <a:alpha val="18039"/>
            </a:srgbClr>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420624" y="13898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2" name="Google Shape;122;p3"/>
          <p:cNvSpPr/>
          <p:nvPr/>
        </p:nvSpPr>
        <p:spPr>
          <a:xfrm>
            <a:off x="950976" y="14081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Semantic Resume Matching</a:t>
            </a:r>
            <a:endParaRPr b="0" i="0" sz="1050" u="none" cap="none" strike="noStrike">
              <a:solidFill>
                <a:schemeClr val="dk1"/>
              </a:solidFill>
              <a:latin typeface="Calibri"/>
              <a:ea typeface="Calibri"/>
              <a:cs typeface="Calibri"/>
              <a:sym typeface="Calibri"/>
            </a:endParaRPr>
          </a:p>
        </p:txBody>
      </p:sp>
      <p:sp>
        <p:nvSpPr>
          <p:cNvPr id="123" name="Google Shape;123;p3"/>
          <p:cNvSpPr/>
          <p:nvPr/>
        </p:nvSpPr>
        <p:spPr>
          <a:xfrm>
            <a:off x="402336" y="18288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Finds</a:t>
            </a:r>
            <a:r>
              <a:rPr b="0" i="0" lang="en-US" sz="880" u="none" cap="none" strike="noStrike">
                <a:solidFill>
                  <a:srgbClr val="374151"/>
                </a:solidFill>
                <a:latin typeface="Calibri"/>
                <a:ea typeface="Calibri"/>
                <a:cs typeface="Calibri"/>
                <a:sym typeface="Calibri"/>
              </a:rPr>
              <a:t> the most relevant </a:t>
            </a:r>
            <a:r>
              <a:rPr lang="en-US" sz="880">
                <a:solidFill>
                  <a:srgbClr val="374151"/>
                </a:solidFill>
                <a:latin typeface="Calibri"/>
                <a:ea typeface="Calibri"/>
                <a:cs typeface="Calibri"/>
                <a:sym typeface="Calibri"/>
              </a:rPr>
              <a:t>parts</a:t>
            </a:r>
            <a:r>
              <a:rPr b="0" i="0" lang="en-US" sz="880" u="none" cap="none" strike="noStrike">
                <a:solidFill>
                  <a:srgbClr val="374151"/>
                </a:solidFill>
                <a:latin typeface="Calibri"/>
                <a:ea typeface="Calibri"/>
                <a:cs typeface="Calibri"/>
                <a:sym typeface="Calibri"/>
              </a:rPr>
              <a:t> of each resume using RAG and cosine similarity</a:t>
            </a:r>
            <a:r>
              <a:rPr lang="en-US" sz="880">
                <a:solidFill>
                  <a:srgbClr val="374151"/>
                </a:solidFill>
                <a:latin typeface="Calibri"/>
                <a:ea typeface="Calibri"/>
                <a:cs typeface="Calibri"/>
                <a:sym typeface="Calibri"/>
              </a:rPr>
              <a:t>, </a:t>
            </a:r>
            <a:r>
              <a:rPr b="0" i="0" lang="en-US" sz="880" u="none" cap="none" strike="noStrike">
                <a:solidFill>
                  <a:srgbClr val="374151"/>
                </a:solidFill>
                <a:latin typeface="Calibri"/>
                <a:ea typeface="Calibri"/>
                <a:cs typeface="Calibri"/>
                <a:sym typeface="Calibri"/>
              </a:rPr>
              <a:t>matching by meaning, not keywords. Candidates who describe the same skills differently still s</a:t>
            </a:r>
            <a:r>
              <a:rPr lang="en-US" sz="880">
                <a:solidFill>
                  <a:srgbClr val="374151"/>
                </a:solidFill>
                <a:latin typeface="Calibri"/>
                <a:ea typeface="Calibri"/>
                <a:cs typeface="Calibri"/>
                <a:sym typeface="Calibri"/>
              </a:rPr>
              <a:t>howup</a:t>
            </a:r>
            <a:r>
              <a:rPr b="0" i="0" lang="en-US" sz="880" u="none" cap="none" strike="noStrike">
                <a:solidFill>
                  <a:srgbClr val="374151"/>
                </a:solidFill>
                <a:latin typeface="Calibri"/>
                <a:ea typeface="Calibri"/>
                <a:cs typeface="Calibri"/>
                <a:sym typeface="Calibri"/>
              </a:rPr>
              <a:t>.</a:t>
            </a:r>
            <a:endParaRPr b="0" i="0" sz="880" u="none" cap="none" strike="noStrike">
              <a:solidFill>
                <a:schemeClr val="dk1"/>
              </a:solidFill>
              <a:latin typeface="Calibri"/>
              <a:ea typeface="Calibri"/>
              <a:cs typeface="Calibri"/>
              <a:sym typeface="Calibri"/>
            </a:endParaRPr>
          </a:p>
        </p:txBody>
      </p:sp>
      <p:sp>
        <p:nvSpPr>
          <p:cNvPr id="124" name="Google Shape;124;p3"/>
          <p:cNvSpPr/>
          <p:nvPr/>
        </p:nvSpPr>
        <p:spPr>
          <a:xfrm>
            <a:off x="3236976" y="1261872"/>
            <a:ext cx="2743200" cy="1682496"/>
          </a:xfrm>
          <a:prstGeom prst="rect">
            <a:avLst/>
          </a:prstGeom>
          <a:solidFill>
            <a:srgbClr val="FFFFFF"/>
          </a:solidFill>
          <a:ln cap="flat" cmpd="sng" w="15225">
            <a:solidFill>
              <a:srgbClr val="0D9488"/>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3"/>
          <p:cNvSpPr/>
          <p:nvPr/>
        </p:nvSpPr>
        <p:spPr>
          <a:xfrm>
            <a:off x="3236976" y="1261872"/>
            <a:ext cx="2743200" cy="4572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p:nvPr/>
        </p:nvSpPr>
        <p:spPr>
          <a:xfrm>
            <a:off x="3364992" y="1389888"/>
            <a:ext cx="420624" cy="420624"/>
          </a:xfrm>
          <a:prstGeom prst="ellipse">
            <a:avLst/>
          </a:prstGeom>
          <a:solidFill>
            <a:srgbClr val="0D9488">
              <a:alpha val="18039"/>
            </a:srgbClr>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
          <p:cNvSpPr/>
          <p:nvPr/>
        </p:nvSpPr>
        <p:spPr>
          <a:xfrm>
            <a:off x="3364992" y="13898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28" name="Google Shape;128;p3"/>
          <p:cNvSpPr/>
          <p:nvPr/>
        </p:nvSpPr>
        <p:spPr>
          <a:xfrm>
            <a:off x="3895344" y="14081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Explainable Candidate Scores</a:t>
            </a:r>
            <a:endParaRPr b="0" i="0" sz="1050" u="none" cap="none" strike="noStrike">
              <a:solidFill>
                <a:schemeClr val="dk1"/>
              </a:solidFill>
              <a:latin typeface="Calibri"/>
              <a:ea typeface="Calibri"/>
              <a:cs typeface="Calibri"/>
              <a:sym typeface="Calibri"/>
            </a:endParaRPr>
          </a:p>
        </p:txBody>
      </p:sp>
      <p:sp>
        <p:nvSpPr>
          <p:cNvPr id="129" name="Google Shape;129;p3"/>
          <p:cNvSpPr/>
          <p:nvPr/>
        </p:nvSpPr>
        <p:spPr>
          <a:xfrm>
            <a:off x="3346704" y="18288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lang="en-US" sz="880">
                <a:solidFill>
                  <a:srgbClr val="374151"/>
                </a:solidFill>
                <a:latin typeface="Calibri"/>
                <a:ea typeface="Calibri"/>
                <a:cs typeface="Calibri"/>
                <a:sym typeface="Calibri"/>
              </a:rPr>
              <a:t>Every candidate gets a 0-100 score with a simple explanation of why, including strengths, skill gaps, and overall fit.</a:t>
            </a:r>
            <a:endParaRPr b="0" i="0" sz="880" u="none" cap="none" strike="noStrike">
              <a:solidFill>
                <a:schemeClr val="dk1"/>
              </a:solidFill>
              <a:latin typeface="Calibri"/>
              <a:ea typeface="Calibri"/>
              <a:cs typeface="Calibri"/>
              <a:sym typeface="Calibri"/>
            </a:endParaRPr>
          </a:p>
        </p:txBody>
      </p:sp>
      <p:sp>
        <p:nvSpPr>
          <p:cNvPr id="130" name="Google Shape;130;p3"/>
          <p:cNvSpPr/>
          <p:nvPr/>
        </p:nvSpPr>
        <p:spPr>
          <a:xfrm>
            <a:off x="6181344" y="1261872"/>
            <a:ext cx="2743200" cy="1682496"/>
          </a:xfrm>
          <a:prstGeom prst="rect">
            <a:avLst/>
          </a:prstGeom>
          <a:solidFill>
            <a:srgbClr val="FFFFFF"/>
          </a:solidFill>
          <a:ln cap="flat" cmpd="sng" w="15225">
            <a:solidFill>
              <a:srgbClr val="7C3AED"/>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6181344" y="1261872"/>
            <a:ext cx="2743200" cy="4572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6309360" y="1389888"/>
            <a:ext cx="420624" cy="420624"/>
          </a:xfrm>
          <a:prstGeom prst="ellipse">
            <a:avLst/>
          </a:prstGeom>
          <a:solidFill>
            <a:srgbClr val="7C3AED">
              <a:alpha val="18039"/>
            </a:srgbClr>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6309360" y="13898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34" name="Google Shape;134;p3"/>
          <p:cNvSpPr/>
          <p:nvPr/>
        </p:nvSpPr>
        <p:spPr>
          <a:xfrm>
            <a:off x="6839712" y="14081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AI-Generated Interview Questions</a:t>
            </a:r>
            <a:endParaRPr b="0" i="0" sz="1050" u="none" cap="none" strike="noStrike">
              <a:solidFill>
                <a:schemeClr val="dk1"/>
              </a:solidFill>
              <a:latin typeface="Calibri"/>
              <a:ea typeface="Calibri"/>
              <a:cs typeface="Calibri"/>
              <a:sym typeface="Calibri"/>
            </a:endParaRPr>
          </a:p>
        </p:txBody>
      </p:sp>
      <p:sp>
        <p:nvSpPr>
          <p:cNvPr id="135" name="Google Shape;135;p3"/>
          <p:cNvSpPr/>
          <p:nvPr/>
        </p:nvSpPr>
        <p:spPr>
          <a:xfrm>
            <a:off x="6291072" y="18288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b="0" i="0" lang="en-US" sz="880" u="none" cap="none" strike="noStrike">
                <a:solidFill>
                  <a:srgbClr val="374151"/>
                </a:solidFill>
                <a:latin typeface="Calibri"/>
                <a:ea typeface="Calibri"/>
                <a:cs typeface="Calibri"/>
                <a:sym typeface="Calibri"/>
              </a:rPr>
              <a:t>The LLM auto-generates 3 targeted interview questions per candidate, </a:t>
            </a:r>
            <a:r>
              <a:rPr lang="en-US" sz="880">
                <a:solidFill>
                  <a:srgbClr val="374151"/>
                </a:solidFill>
                <a:latin typeface="Calibri"/>
                <a:ea typeface="Calibri"/>
                <a:cs typeface="Calibri"/>
                <a:sym typeface="Calibri"/>
              </a:rPr>
              <a:t>specific to their background and</a:t>
            </a:r>
            <a:r>
              <a:rPr b="0" i="0" lang="en-US" sz="880" u="none" cap="none" strike="noStrike">
                <a:solidFill>
                  <a:srgbClr val="374151"/>
                </a:solidFill>
                <a:latin typeface="Calibri"/>
                <a:ea typeface="Calibri"/>
                <a:cs typeface="Calibri"/>
                <a:sym typeface="Calibri"/>
              </a:rPr>
              <a:t> the job description</a:t>
            </a:r>
            <a:r>
              <a:rPr lang="en-US" sz="880">
                <a:solidFill>
                  <a:srgbClr val="374151"/>
                </a:solidFill>
                <a:latin typeface="Calibri"/>
                <a:ea typeface="Calibri"/>
                <a:cs typeface="Calibri"/>
                <a:sym typeface="Calibri"/>
              </a:rPr>
              <a:t>, </a:t>
            </a:r>
            <a:r>
              <a:rPr b="0" i="0" lang="en-US" sz="880" u="none" cap="none" strike="noStrike">
                <a:solidFill>
                  <a:srgbClr val="374151"/>
                </a:solidFill>
                <a:latin typeface="Calibri"/>
                <a:ea typeface="Calibri"/>
                <a:cs typeface="Calibri"/>
                <a:sym typeface="Calibri"/>
              </a:rPr>
              <a:t>saving hours of prep</a:t>
            </a:r>
            <a:r>
              <a:rPr lang="en-US" sz="880">
                <a:solidFill>
                  <a:srgbClr val="374151"/>
                </a:solidFill>
                <a:latin typeface="Calibri"/>
                <a:ea typeface="Calibri"/>
                <a:cs typeface="Calibri"/>
                <a:sym typeface="Calibri"/>
              </a:rPr>
              <a:t> time</a:t>
            </a:r>
            <a:r>
              <a:rPr b="0" i="0" lang="en-US" sz="880" u="none" cap="none" strike="noStrike">
                <a:solidFill>
                  <a:srgbClr val="374151"/>
                </a:solidFill>
                <a:latin typeface="Calibri"/>
                <a:ea typeface="Calibri"/>
                <a:cs typeface="Calibri"/>
                <a:sym typeface="Calibri"/>
              </a:rPr>
              <a:t>.</a:t>
            </a:r>
            <a:endParaRPr b="0" i="0" sz="880" u="none" cap="none" strike="noStrike">
              <a:solidFill>
                <a:schemeClr val="dk1"/>
              </a:solidFill>
              <a:latin typeface="Calibri"/>
              <a:ea typeface="Calibri"/>
              <a:cs typeface="Calibri"/>
              <a:sym typeface="Calibri"/>
            </a:endParaRPr>
          </a:p>
        </p:txBody>
      </p:sp>
      <p:sp>
        <p:nvSpPr>
          <p:cNvPr id="136" name="Google Shape;136;p3"/>
          <p:cNvSpPr/>
          <p:nvPr/>
        </p:nvSpPr>
        <p:spPr>
          <a:xfrm>
            <a:off x="292608" y="3090672"/>
            <a:ext cx="2743200" cy="1682496"/>
          </a:xfrm>
          <a:prstGeom prst="rect">
            <a:avLst/>
          </a:prstGeom>
          <a:solidFill>
            <a:srgbClr val="FFFFFF"/>
          </a:solidFill>
          <a:ln cap="flat" cmpd="sng" w="15225">
            <a:solidFill>
              <a:srgbClr val="16A34A"/>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3"/>
          <p:cNvSpPr/>
          <p:nvPr/>
        </p:nvSpPr>
        <p:spPr>
          <a:xfrm>
            <a:off x="292608" y="3090672"/>
            <a:ext cx="2743200" cy="4572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420624" y="3218688"/>
            <a:ext cx="420624" cy="420624"/>
          </a:xfrm>
          <a:prstGeom prst="ellipse">
            <a:avLst/>
          </a:prstGeom>
          <a:solidFill>
            <a:srgbClr val="16A34A">
              <a:alpha val="18039"/>
            </a:srgbClr>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420624" y="32186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0" name="Google Shape;140;p3"/>
          <p:cNvSpPr/>
          <p:nvPr/>
        </p:nvSpPr>
        <p:spPr>
          <a:xfrm>
            <a:off x="950976" y="32369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Resume Upload + URL Job Fetch</a:t>
            </a:r>
            <a:endParaRPr b="0" i="0" sz="1050" u="none" cap="none" strike="noStrike">
              <a:solidFill>
                <a:schemeClr val="dk1"/>
              </a:solidFill>
              <a:latin typeface="Calibri"/>
              <a:ea typeface="Calibri"/>
              <a:cs typeface="Calibri"/>
              <a:sym typeface="Calibri"/>
            </a:endParaRPr>
          </a:p>
        </p:txBody>
      </p:sp>
      <p:sp>
        <p:nvSpPr>
          <p:cNvPr id="141" name="Google Shape;141;p3"/>
          <p:cNvSpPr/>
          <p:nvPr/>
        </p:nvSpPr>
        <p:spPr>
          <a:xfrm>
            <a:off x="402336" y="36576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b="0" i="0" lang="en-US" sz="880" u="none" cap="none" strike="noStrike">
                <a:solidFill>
                  <a:srgbClr val="374151"/>
                </a:solidFill>
                <a:latin typeface="Calibri"/>
                <a:ea typeface="Calibri"/>
                <a:cs typeface="Calibri"/>
                <a:sym typeface="Calibri"/>
              </a:rPr>
              <a:t>Recruiters drag </a:t>
            </a:r>
            <a:r>
              <a:rPr lang="en-US" sz="880">
                <a:solidFill>
                  <a:srgbClr val="374151"/>
                </a:solidFill>
                <a:latin typeface="Calibri"/>
                <a:ea typeface="Calibri"/>
                <a:cs typeface="Calibri"/>
                <a:sym typeface="Calibri"/>
              </a:rPr>
              <a:t>and</a:t>
            </a:r>
            <a:r>
              <a:rPr b="0" i="0" lang="en-US" sz="880" u="none" cap="none" strike="noStrike">
                <a:solidFill>
                  <a:srgbClr val="374151"/>
                </a:solidFill>
                <a:latin typeface="Calibri"/>
                <a:ea typeface="Calibri"/>
                <a:cs typeface="Calibri"/>
                <a:sym typeface="Calibri"/>
              </a:rPr>
              <a:t> drop PDF resumes directly into the tool. Job descriptions can be pasted or fetched automatically from any company careers page URL.</a:t>
            </a:r>
            <a:endParaRPr b="0" i="0" sz="880" u="none" cap="none" strike="noStrike">
              <a:solidFill>
                <a:schemeClr val="dk1"/>
              </a:solidFill>
              <a:latin typeface="Calibri"/>
              <a:ea typeface="Calibri"/>
              <a:cs typeface="Calibri"/>
              <a:sym typeface="Calibri"/>
            </a:endParaRPr>
          </a:p>
        </p:txBody>
      </p:sp>
      <p:sp>
        <p:nvSpPr>
          <p:cNvPr id="142" name="Google Shape;142;p3"/>
          <p:cNvSpPr/>
          <p:nvPr/>
        </p:nvSpPr>
        <p:spPr>
          <a:xfrm>
            <a:off x="3236976" y="3090672"/>
            <a:ext cx="2743200" cy="1682496"/>
          </a:xfrm>
          <a:prstGeom prst="rect">
            <a:avLst/>
          </a:prstGeom>
          <a:solidFill>
            <a:srgbClr val="FFFFFF"/>
          </a:solidFill>
          <a:ln cap="flat" cmpd="sng" w="15225">
            <a:solidFill>
              <a:srgbClr val="D9770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3"/>
          <p:cNvSpPr/>
          <p:nvPr/>
        </p:nvSpPr>
        <p:spPr>
          <a:xfrm>
            <a:off x="3236976" y="3090672"/>
            <a:ext cx="2743200" cy="4572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3"/>
          <p:cNvSpPr/>
          <p:nvPr/>
        </p:nvSpPr>
        <p:spPr>
          <a:xfrm>
            <a:off x="3364992" y="3218688"/>
            <a:ext cx="420624" cy="420624"/>
          </a:xfrm>
          <a:prstGeom prst="ellipse">
            <a:avLst/>
          </a:prstGeom>
          <a:solidFill>
            <a:srgbClr val="D97706">
              <a:alpha val="18039"/>
            </a:srgbClr>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3"/>
          <p:cNvSpPr/>
          <p:nvPr/>
        </p:nvSpPr>
        <p:spPr>
          <a:xfrm>
            <a:off x="3364992" y="32186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46" name="Google Shape;146;p3"/>
          <p:cNvSpPr/>
          <p:nvPr/>
        </p:nvSpPr>
        <p:spPr>
          <a:xfrm>
            <a:off x="3895344" y="32369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Dual LLM — ChatGPT &amp; Claude</a:t>
            </a:r>
            <a:endParaRPr b="0" i="0" sz="1050" u="none" cap="none" strike="noStrike">
              <a:solidFill>
                <a:schemeClr val="dk1"/>
              </a:solidFill>
              <a:latin typeface="Calibri"/>
              <a:ea typeface="Calibri"/>
              <a:cs typeface="Calibri"/>
              <a:sym typeface="Calibri"/>
            </a:endParaRPr>
          </a:p>
        </p:txBody>
      </p:sp>
      <p:sp>
        <p:nvSpPr>
          <p:cNvPr id="147" name="Google Shape;147;p3"/>
          <p:cNvSpPr/>
          <p:nvPr/>
        </p:nvSpPr>
        <p:spPr>
          <a:xfrm>
            <a:off x="3346704" y="36576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b="0" i="0" lang="en-US" sz="880" u="none" cap="none" strike="noStrike">
                <a:solidFill>
                  <a:srgbClr val="374151"/>
                </a:solidFill>
                <a:latin typeface="Calibri"/>
                <a:ea typeface="Calibri"/>
                <a:cs typeface="Calibri"/>
                <a:sym typeface="Calibri"/>
              </a:rPr>
              <a:t>Run analysis through both OpenAI and Anthropic simultaneously</a:t>
            </a:r>
            <a:r>
              <a:rPr lang="en-US" sz="880">
                <a:solidFill>
                  <a:srgbClr val="374151"/>
                </a:solidFill>
                <a:latin typeface="Calibri"/>
                <a:ea typeface="Calibri"/>
                <a:cs typeface="Calibri"/>
                <a:sym typeface="Calibri"/>
              </a:rPr>
              <a:t>, then compare</a:t>
            </a:r>
            <a:r>
              <a:rPr b="0" i="0" lang="en-US" sz="880" u="none" cap="none" strike="noStrike">
                <a:solidFill>
                  <a:srgbClr val="374151"/>
                </a:solidFill>
                <a:latin typeface="Calibri"/>
                <a:ea typeface="Calibri"/>
                <a:cs typeface="Calibri"/>
                <a:sym typeface="Calibri"/>
              </a:rPr>
              <a:t> scores side-by-side to look at differences</a:t>
            </a:r>
            <a:r>
              <a:rPr lang="en-US" sz="880">
                <a:solidFill>
                  <a:srgbClr val="374151"/>
                </a:solidFill>
                <a:latin typeface="Calibri"/>
                <a:ea typeface="Calibri"/>
                <a:cs typeface="Calibri"/>
                <a:sym typeface="Calibri"/>
              </a:rPr>
              <a:t>.</a:t>
            </a:r>
            <a:endParaRPr b="0" i="0" sz="880" u="none" cap="none" strike="noStrike">
              <a:solidFill>
                <a:schemeClr val="dk1"/>
              </a:solidFill>
              <a:latin typeface="Calibri"/>
              <a:ea typeface="Calibri"/>
              <a:cs typeface="Calibri"/>
              <a:sym typeface="Calibri"/>
            </a:endParaRPr>
          </a:p>
        </p:txBody>
      </p:sp>
      <p:sp>
        <p:nvSpPr>
          <p:cNvPr id="148" name="Google Shape;148;p3"/>
          <p:cNvSpPr/>
          <p:nvPr/>
        </p:nvSpPr>
        <p:spPr>
          <a:xfrm>
            <a:off x="6181344" y="3090672"/>
            <a:ext cx="2743200" cy="1682496"/>
          </a:xfrm>
          <a:prstGeom prst="rect">
            <a:avLst/>
          </a:prstGeom>
          <a:solidFill>
            <a:srgbClr val="FFFFFF"/>
          </a:solidFill>
          <a:ln cap="flat" cmpd="sng" w="15225">
            <a:solidFill>
              <a:srgbClr val="DC262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3"/>
          <p:cNvSpPr/>
          <p:nvPr/>
        </p:nvSpPr>
        <p:spPr>
          <a:xfrm>
            <a:off x="6181344" y="3090672"/>
            <a:ext cx="2743200" cy="45720"/>
          </a:xfrm>
          <a:prstGeom prst="rect">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3"/>
          <p:cNvSpPr/>
          <p:nvPr/>
        </p:nvSpPr>
        <p:spPr>
          <a:xfrm>
            <a:off x="6309360" y="3218688"/>
            <a:ext cx="420624" cy="420624"/>
          </a:xfrm>
          <a:prstGeom prst="ellipse">
            <a:avLst/>
          </a:prstGeom>
          <a:solidFill>
            <a:srgbClr val="DC2626">
              <a:alpha val="18039"/>
            </a:srgbClr>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
          <p:cNvSpPr/>
          <p:nvPr/>
        </p:nvSpPr>
        <p:spPr>
          <a:xfrm>
            <a:off x="6309360" y="321868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400"/>
              <a:buFont typeface="Calibri"/>
              <a:buNone/>
            </a:pPr>
            <a:r>
              <a:rPr b="0" i="0" lang="en-US" sz="1400" u="none" cap="none" strike="noStrike">
                <a:solidFill>
                  <a:srgbClr val="000000"/>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52" name="Google Shape;152;p3"/>
          <p:cNvSpPr/>
          <p:nvPr/>
        </p:nvSpPr>
        <p:spPr>
          <a:xfrm>
            <a:off x="6839712" y="3236976"/>
            <a:ext cx="1975104"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050"/>
              <a:buFont typeface="Calibri"/>
              <a:buNone/>
            </a:pPr>
            <a:r>
              <a:rPr b="1" i="0" lang="en-US" sz="1050" u="none" cap="none" strike="noStrike">
                <a:solidFill>
                  <a:srgbClr val="0F1F3D"/>
                </a:solidFill>
                <a:latin typeface="Calibri"/>
                <a:ea typeface="Calibri"/>
                <a:cs typeface="Calibri"/>
                <a:sym typeface="Calibri"/>
              </a:rPr>
              <a:t>Full RAG Transparency</a:t>
            </a:r>
            <a:endParaRPr b="0" i="0" sz="1050" u="none" cap="none" strike="noStrike">
              <a:solidFill>
                <a:schemeClr val="dk1"/>
              </a:solidFill>
              <a:latin typeface="Calibri"/>
              <a:ea typeface="Calibri"/>
              <a:cs typeface="Calibri"/>
              <a:sym typeface="Calibri"/>
            </a:endParaRPr>
          </a:p>
        </p:txBody>
      </p:sp>
      <p:sp>
        <p:nvSpPr>
          <p:cNvPr id="153" name="Google Shape;153;p3"/>
          <p:cNvSpPr/>
          <p:nvPr/>
        </p:nvSpPr>
        <p:spPr>
          <a:xfrm>
            <a:off x="6291072" y="3657600"/>
            <a:ext cx="2523744"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374151"/>
              </a:buClr>
              <a:buSzPts val="880"/>
              <a:buFont typeface="Calibri"/>
              <a:buNone/>
            </a:pPr>
            <a:r>
              <a:rPr b="0" i="0" lang="en-US" sz="880" u="none" cap="none" strike="noStrike">
                <a:solidFill>
                  <a:srgbClr val="374151"/>
                </a:solidFill>
                <a:latin typeface="Calibri"/>
                <a:ea typeface="Calibri"/>
                <a:cs typeface="Calibri"/>
                <a:sym typeface="Calibri"/>
              </a:rPr>
              <a:t>Expand any candidate card to see the exact </a:t>
            </a:r>
            <a:r>
              <a:rPr lang="en-US" sz="880">
                <a:solidFill>
                  <a:srgbClr val="374151"/>
                </a:solidFill>
                <a:latin typeface="Calibri"/>
                <a:ea typeface="Calibri"/>
                <a:cs typeface="Calibri"/>
                <a:sym typeface="Calibri"/>
              </a:rPr>
              <a:t>parts of the resume used in analysis. This allows for </a:t>
            </a:r>
            <a:r>
              <a:rPr b="0" i="0" lang="en-US" sz="880" u="none" cap="none" strike="noStrike">
                <a:solidFill>
                  <a:srgbClr val="374151"/>
                </a:solidFill>
                <a:latin typeface="Calibri"/>
                <a:ea typeface="Calibri"/>
                <a:cs typeface="Calibri"/>
                <a:sym typeface="Calibri"/>
              </a:rPr>
              <a:t>full visibility into every step of the RAG pipeline.</a:t>
            </a:r>
            <a:endParaRPr b="0" i="0" sz="88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4"/>
          <p:cNvSpPr/>
          <p:nvPr/>
        </p:nvSpPr>
        <p:spPr>
          <a:xfrm>
            <a:off x="0" y="0"/>
            <a:ext cx="9144000" cy="54864"/>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4"/>
          <p:cNvSpPr/>
          <p:nvPr/>
        </p:nvSpPr>
        <p:spPr>
          <a:xfrm>
            <a:off x="0" y="0"/>
            <a:ext cx="64008" cy="51435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4"/>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9488"/>
              </a:buClr>
              <a:buSzPts val="900"/>
              <a:buFont typeface="Calibri"/>
              <a:buNone/>
            </a:pPr>
            <a:r>
              <a:rPr b="1" i="0" lang="en-US" sz="900" u="none" cap="none" strike="noStrike">
                <a:solidFill>
                  <a:srgbClr val="0D9488"/>
                </a:solidFill>
                <a:latin typeface="Calibri"/>
                <a:ea typeface="Calibri"/>
                <a:cs typeface="Calibri"/>
                <a:sym typeface="Calibri"/>
              </a:rPr>
              <a:t>HOW IT WORKS</a:t>
            </a:r>
            <a:endParaRPr b="0" i="0" sz="900" u="none" cap="none" strike="noStrike">
              <a:solidFill>
                <a:schemeClr val="dk1"/>
              </a:solidFill>
              <a:latin typeface="Calibri"/>
              <a:ea typeface="Calibri"/>
              <a:cs typeface="Calibri"/>
              <a:sym typeface="Calibri"/>
            </a:endParaRPr>
          </a:p>
        </p:txBody>
      </p:sp>
      <p:sp>
        <p:nvSpPr>
          <p:cNvPr id="162" name="Google Shape;162;p4"/>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The RAG Pipeline — Step by Step</a:t>
            </a:r>
            <a:endParaRPr b="0" i="0" sz="3000" u="none" cap="none" strike="noStrike">
              <a:solidFill>
                <a:schemeClr val="dk1"/>
              </a:solidFill>
              <a:latin typeface="Calibri"/>
              <a:ea typeface="Calibri"/>
              <a:cs typeface="Calibri"/>
              <a:sym typeface="Calibri"/>
            </a:endParaRPr>
          </a:p>
        </p:txBody>
      </p:sp>
      <p:sp>
        <p:nvSpPr>
          <p:cNvPr id="163" name="Google Shape;163;p4"/>
          <p:cNvSpPr/>
          <p:nvPr/>
        </p:nvSpPr>
        <p:spPr>
          <a:xfrm>
            <a:off x="256032" y="1261872"/>
            <a:ext cx="1298400" cy="2615100"/>
          </a:xfrm>
          <a:prstGeom prst="rect">
            <a:avLst/>
          </a:prstGeom>
          <a:solidFill>
            <a:srgbClr val="FFFFFF"/>
          </a:solidFill>
          <a:ln cap="flat" cmpd="sng" w="15225">
            <a:solidFill>
              <a:srgbClr val="7C3AED"/>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4"/>
          <p:cNvSpPr/>
          <p:nvPr/>
        </p:nvSpPr>
        <p:spPr>
          <a:xfrm>
            <a:off x="256032" y="1261872"/>
            <a:ext cx="1298448" cy="4572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4"/>
          <p:cNvSpPr/>
          <p:nvPr/>
        </p:nvSpPr>
        <p:spPr>
          <a:xfrm>
            <a:off x="690369" y="1687088"/>
            <a:ext cx="420600" cy="420600"/>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690369" y="1687075"/>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167" name="Google Shape;167;p4"/>
          <p:cNvSpPr/>
          <p:nvPr/>
        </p:nvSpPr>
        <p:spPr>
          <a:xfrm>
            <a:off x="310896" y="2487168"/>
            <a:ext cx="1188600" cy="47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Upload Resume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F3D"/>
              </a:buClr>
              <a:buSzPts val="950"/>
              <a:buFont typeface="Calibri"/>
              <a:buNone/>
            </a:pPr>
            <a:r>
              <a:rPr b="1" lang="en-US" sz="950">
                <a:solidFill>
                  <a:srgbClr val="0F1F3D"/>
                </a:solidFill>
                <a:latin typeface="Calibri"/>
                <a:ea typeface="Calibri"/>
                <a:cs typeface="Calibri"/>
                <a:sym typeface="Calibri"/>
              </a:rPr>
              <a:t>and Job Description</a:t>
            </a:r>
            <a:endParaRPr b="0" i="0" sz="950" u="none" cap="none" strike="noStrike">
              <a:solidFill>
                <a:schemeClr val="dk1"/>
              </a:solidFill>
              <a:latin typeface="Calibri"/>
              <a:ea typeface="Calibri"/>
              <a:cs typeface="Calibri"/>
              <a:sym typeface="Calibri"/>
            </a:endParaRPr>
          </a:p>
        </p:txBody>
      </p:sp>
      <p:sp>
        <p:nvSpPr>
          <p:cNvPr id="168" name="Google Shape;168;p4"/>
          <p:cNvSpPr/>
          <p:nvPr/>
        </p:nvSpPr>
        <p:spPr>
          <a:xfrm>
            <a:off x="310896" y="3017520"/>
            <a:ext cx="1188600" cy="658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PDF · TXT · URL fetch</a:t>
            </a:r>
            <a:endParaRPr b="0" i="0" sz="800" u="none" cap="none" strike="noStrike">
              <a:solidFill>
                <a:schemeClr val="dk1"/>
              </a:solidFill>
              <a:latin typeface="Calibri"/>
              <a:ea typeface="Calibri"/>
              <a:cs typeface="Calibri"/>
              <a:sym typeface="Calibri"/>
            </a:endParaRPr>
          </a:p>
        </p:txBody>
      </p:sp>
      <p:sp>
        <p:nvSpPr>
          <p:cNvPr id="169" name="Google Shape;169;p4"/>
          <p:cNvSpPr/>
          <p:nvPr/>
        </p:nvSpPr>
        <p:spPr>
          <a:xfrm>
            <a:off x="1426464" y="1965960"/>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1400"/>
              <a:buFont typeface="Calibri"/>
              <a:buNone/>
            </a:pPr>
            <a:r>
              <a:rPr b="1" i="0" lang="en-US" sz="1400" u="none" cap="none" strike="noStrike">
                <a:solidFill>
                  <a:srgbClr val="6B7A9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0" name="Google Shape;170;p4"/>
          <p:cNvSpPr/>
          <p:nvPr/>
        </p:nvSpPr>
        <p:spPr>
          <a:xfrm>
            <a:off x="1737360" y="1261872"/>
            <a:ext cx="1298448" cy="2615184"/>
          </a:xfrm>
          <a:prstGeom prst="rect">
            <a:avLst/>
          </a:prstGeom>
          <a:solidFill>
            <a:srgbClr val="FFFFFF"/>
          </a:solidFill>
          <a:ln cap="flat" cmpd="sng" w="15225">
            <a:solidFill>
              <a:schemeClr val="dk1"/>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4"/>
          <p:cNvSpPr/>
          <p:nvPr/>
        </p:nvSpPr>
        <p:spPr>
          <a:xfrm>
            <a:off x="1737360" y="1261872"/>
            <a:ext cx="1298448" cy="45720"/>
          </a:xfrm>
          <a:prstGeom prst="rect">
            <a:avLst/>
          </a:prstGeom>
          <a:solidFill>
            <a:srgbClr val="000000"/>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2176247" y="1687075"/>
            <a:ext cx="420600" cy="420600"/>
          </a:xfrm>
          <a:prstGeom prst="ellipse">
            <a:avLst/>
          </a:prstGeom>
          <a:solidFill>
            <a:srgbClr val="000000"/>
          </a:solidFill>
          <a:ln cap="flat" cmpd="sng" w="12700">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2176272" y="16870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174" name="Google Shape;174;p4"/>
          <p:cNvSpPr/>
          <p:nvPr/>
        </p:nvSpPr>
        <p:spPr>
          <a:xfrm>
            <a:off x="1792224" y="2487168"/>
            <a:ext cx="11887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lang="en-US" sz="950">
                <a:solidFill>
                  <a:srgbClr val="0F1F3D"/>
                </a:solidFill>
                <a:latin typeface="Calibri"/>
                <a:ea typeface="Calibri"/>
                <a:cs typeface="Calibri"/>
                <a:sym typeface="Calibri"/>
              </a:rPr>
              <a:t>Break Text into Sections</a:t>
            </a:r>
            <a:endParaRPr b="0" i="0" sz="950" u="none" cap="none" strike="noStrike">
              <a:solidFill>
                <a:schemeClr val="dk1"/>
              </a:solidFill>
              <a:latin typeface="Calibri"/>
              <a:ea typeface="Calibri"/>
              <a:cs typeface="Calibri"/>
              <a:sym typeface="Calibri"/>
            </a:endParaRPr>
          </a:p>
        </p:txBody>
      </p:sp>
      <p:sp>
        <p:nvSpPr>
          <p:cNvPr id="175" name="Google Shape;175;p4"/>
          <p:cNvSpPr/>
          <p:nvPr/>
        </p:nvSpPr>
        <p:spPr>
          <a:xfrm>
            <a:off x="1792224" y="3017520"/>
            <a:ext cx="11887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split_into_chunks</a:t>
            </a:r>
            <a:endParaRPr b="0" i="0" sz="800" u="none" cap="none" strike="noStrike">
              <a:solidFill>
                <a:schemeClr val="dk1"/>
              </a:solidFill>
              <a:latin typeface="Calibri"/>
              <a:ea typeface="Calibri"/>
              <a:cs typeface="Calibri"/>
              <a:sym typeface="Calibri"/>
            </a:endParaRPr>
          </a:p>
        </p:txBody>
      </p:sp>
      <p:sp>
        <p:nvSpPr>
          <p:cNvPr id="176" name="Google Shape;176;p4"/>
          <p:cNvSpPr/>
          <p:nvPr/>
        </p:nvSpPr>
        <p:spPr>
          <a:xfrm>
            <a:off x="2907792" y="1965960"/>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1400"/>
              <a:buFont typeface="Calibri"/>
              <a:buNone/>
            </a:pPr>
            <a:r>
              <a:rPr b="1" i="0" lang="en-US" sz="1400" u="none" cap="none" strike="noStrike">
                <a:solidFill>
                  <a:srgbClr val="6B7A9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77" name="Google Shape;177;p4"/>
          <p:cNvSpPr/>
          <p:nvPr/>
        </p:nvSpPr>
        <p:spPr>
          <a:xfrm>
            <a:off x="3218688" y="1261872"/>
            <a:ext cx="1298448" cy="2615184"/>
          </a:xfrm>
          <a:prstGeom prst="rect">
            <a:avLst/>
          </a:prstGeom>
          <a:solidFill>
            <a:srgbClr val="FFFFFF"/>
          </a:solidFill>
          <a:ln cap="flat" cmpd="sng" w="15225">
            <a:solidFill>
              <a:srgbClr val="0D9488"/>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4"/>
          <p:cNvSpPr/>
          <p:nvPr/>
        </p:nvSpPr>
        <p:spPr>
          <a:xfrm>
            <a:off x="3218688" y="1261872"/>
            <a:ext cx="1298448" cy="4572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4"/>
          <p:cNvSpPr/>
          <p:nvPr/>
        </p:nvSpPr>
        <p:spPr>
          <a:xfrm>
            <a:off x="3657600" y="1687075"/>
            <a:ext cx="420600" cy="420600"/>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4"/>
          <p:cNvSpPr/>
          <p:nvPr/>
        </p:nvSpPr>
        <p:spPr>
          <a:xfrm>
            <a:off x="3657613" y="16870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181" name="Google Shape;181;p4"/>
          <p:cNvSpPr/>
          <p:nvPr/>
        </p:nvSpPr>
        <p:spPr>
          <a:xfrm>
            <a:off x="3273552" y="2487168"/>
            <a:ext cx="11887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Embed</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&amp; Encode</a:t>
            </a:r>
            <a:endParaRPr b="0" i="0" sz="950" u="none" cap="none" strike="noStrike">
              <a:solidFill>
                <a:schemeClr val="dk1"/>
              </a:solidFill>
              <a:latin typeface="Calibri"/>
              <a:ea typeface="Calibri"/>
              <a:cs typeface="Calibri"/>
              <a:sym typeface="Calibri"/>
            </a:endParaRPr>
          </a:p>
        </p:txBody>
      </p:sp>
      <p:sp>
        <p:nvSpPr>
          <p:cNvPr id="182" name="Google Shape;182;p4"/>
          <p:cNvSpPr/>
          <p:nvPr/>
        </p:nvSpPr>
        <p:spPr>
          <a:xfrm>
            <a:off x="3273552" y="3017520"/>
            <a:ext cx="11887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keyword-vector encoding</a:t>
            </a:r>
            <a:endParaRPr b="0" i="0" sz="800" u="none" cap="none" strike="noStrike">
              <a:solidFill>
                <a:schemeClr val="dk1"/>
              </a:solidFill>
              <a:latin typeface="Calibri"/>
              <a:ea typeface="Calibri"/>
              <a:cs typeface="Calibri"/>
              <a:sym typeface="Calibri"/>
            </a:endParaRPr>
          </a:p>
        </p:txBody>
      </p:sp>
      <p:sp>
        <p:nvSpPr>
          <p:cNvPr id="183" name="Google Shape;183;p4"/>
          <p:cNvSpPr/>
          <p:nvPr/>
        </p:nvSpPr>
        <p:spPr>
          <a:xfrm>
            <a:off x="4389120" y="1965960"/>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1400"/>
              <a:buFont typeface="Calibri"/>
              <a:buNone/>
            </a:pPr>
            <a:r>
              <a:rPr b="1" i="0" lang="en-US" sz="1400" u="none" cap="none" strike="noStrike">
                <a:solidFill>
                  <a:srgbClr val="6B7A9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84" name="Google Shape;184;p4"/>
          <p:cNvSpPr/>
          <p:nvPr/>
        </p:nvSpPr>
        <p:spPr>
          <a:xfrm>
            <a:off x="4700016" y="1261872"/>
            <a:ext cx="1298448" cy="2615184"/>
          </a:xfrm>
          <a:prstGeom prst="rect">
            <a:avLst/>
          </a:prstGeom>
          <a:solidFill>
            <a:srgbClr val="FFFFFF"/>
          </a:solidFill>
          <a:ln cap="flat" cmpd="sng" w="15225">
            <a:solidFill>
              <a:srgbClr val="2563EB"/>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4"/>
          <p:cNvSpPr/>
          <p:nvPr/>
        </p:nvSpPr>
        <p:spPr>
          <a:xfrm>
            <a:off x="4700016" y="1261872"/>
            <a:ext cx="1298448" cy="4572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4"/>
          <p:cNvSpPr/>
          <p:nvPr/>
        </p:nvSpPr>
        <p:spPr>
          <a:xfrm>
            <a:off x="5138928" y="1687075"/>
            <a:ext cx="420600" cy="420600"/>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4"/>
          <p:cNvSpPr/>
          <p:nvPr/>
        </p:nvSpPr>
        <p:spPr>
          <a:xfrm>
            <a:off x="5138941" y="16870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188" name="Google Shape;188;p4"/>
          <p:cNvSpPr/>
          <p:nvPr/>
        </p:nvSpPr>
        <p:spPr>
          <a:xfrm>
            <a:off x="4754880" y="2487168"/>
            <a:ext cx="11887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Cosine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Similarity</a:t>
            </a:r>
            <a:endParaRPr b="0" i="0" sz="950" u="none" cap="none" strike="noStrike">
              <a:solidFill>
                <a:schemeClr val="dk1"/>
              </a:solidFill>
              <a:latin typeface="Calibri"/>
              <a:ea typeface="Calibri"/>
              <a:cs typeface="Calibri"/>
              <a:sym typeface="Calibri"/>
            </a:endParaRPr>
          </a:p>
        </p:txBody>
      </p:sp>
      <p:sp>
        <p:nvSpPr>
          <p:cNvPr id="189" name="Google Shape;189;p4"/>
          <p:cNvSpPr/>
          <p:nvPr/>
        </p:nvSpPr>
        <p:spPr>
          <a:xfrm>
            <a:off x="4754880" y="3017520"/>
            <a:ext cx="11887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lang="en-US" sz="800">
                <a:solidFill>
                  <a:srgbClr val="6B7A99"/>
                </a:solidFill>
                <a:latin typeface="Consolas"/>
                <a:ea typeface="Consolas"/>
                <a:cs typeface="Consolas"/>
                <a:sym typeface="Consolas"/>
              </a:rPr>
              <a:t>compare</a:t>
            </a:r>
            <a:r>
              <a:rPr b="0" i="0" lang="en-US" sz="800" u="none" cap="none" strike="noStrike">
                <a:solidFill>
                  <a:srgbClr val="6B7A99"/>
                </a:solidFill>
                <a:latin typeface="Consolas"/>
                <a:ea typeface="Consolas"/>
                <a:cs typeface="Consolas"/>
                <a:sym typeface="Consolas"/>
              </a:rPr>
              <a:t> resume chunks </a:t>
            </a:r>
            <a:r>
              <a:rPr lang="en-US" sz="800">
                <a:solidFill>
                  <a:srgbClr val="6B7A99"/>
                </a:solidFill>
                <a:latin typeface="Consolas"/>
                <a:ea typeface="Consolas"/>
                <a:cs typeface="Consolas"/>
                <a:sym typeface="Consolas"/>
              </a:rPr>
              <a:t>with job description</a:t>
            </a:r>
            <a:endParaRPr b="0" i="0" sz="800" u="none" cap="none" strike="noStrike">
              <a:solidFill>
                <a:schemeClr val="dk1"/>
              </a:solidFill>
              <a:latin typeface="Calibri"/>
              <a:ea typeface="Calibri"/>
              <a:cs typeface="Calibri"/>
              <a:sym typeface="Calibri"/>
            </a:endParaRPr>
          </a:p>
        </p:txBody>
      </p:sp>
      <p:sp>
        <p:nvSpPr>
          <p:cNvPr id="190" name="Google Shape;190;p4"/>
          <p:cNvSpPr/>
          <p:nvPr/>
        </p:nvSpPr>
        <p:spPr>
          <a:xfrm>
            <a:off x="5870448" y="1965960"/>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1400"/>
              <a:buFont typeface="Calibri"/>
              <a:buNone/>
            </a:pPr>
            <a:r>
              <a:rPr b="1" i="0" lang="en-US" sz="1400" u="none" cap="none" strike="noStrike">
                <a:solidFill>
                  <a:srgbClr val="6B7A9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1" name="Google Shape;191;p4"/>
          <p:cNvSpPr/>
          <p:nvPr/>
        </p:nvSpPr>
        <p:spPr>
          <a:xfrm>
            <a:off x="6181344" y="1261872"/>
            <a:ext cx="1298448" cy="2615184"/>
          </a:xfrm>
          <a:prstGeom prst="rect">
            <a:avLst/>
          </a:prstGeom>
          <a:solidFill>
            <a:srgbClr val="FFFFFF"/>
          </a:solidFill>
          <a:ln cap="flat" cmpd="sng" w="15225">
            <a:solidFill>
              <a:srgbClr val="16A34A"/>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4"/>
          <p:cNvSpPr/>
          <p:nvPr/>
        </p:nvSpPr>
        <p:spPr>
          <a:xfrm>
            <a:off x="6181344" y="1261872"/>
            <a:ext cx="1298448" cy="4572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4"/>
          <p:cNvSpPr/>
          <p:nvPr/>
        </p:nvSpPr>
        <p:spPr>
          <a:xfrm>
            <a:off x="6620256" y="1687075"/>
            <a:ext cx="420600" cy="420600"/>
          </a:xfrm>
          <a:prstGeom prst="ellipse">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
          <p:cNvSpPr/>
          <p:nvPr/>
        </p:nvSpPr>
        <p:spPr>
          <a:xfrm>
            <a:off x="6620269" y="16870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5</a:t>
            </a:r>
            <a:endParaRPr b="0" i="0" sz="1300" u="none" cap="none" strike="noStrike">
              <a:solidFill>
                <a:schemeClr val="dk1"/>
              </a:solidFill>
              <a:latin typeface="Calibri"/>
              <a:ea typeface="Calibri"/>
              <a:cs typeface="Calibri"/>
              <a:sym typeface="Calibri"/>
            </a:endParaRPr>
          </a:p>
        </p:txBody>
      </p:sp>
      <p:sp>
        <p:nvSpPr>
          <p:cNvPr id="195" name="Google Shape;195;p4"/>
          <p:cNvSpPr/>
          <p:nvPr/>
        </p:nvSpPr>
        <p:spPr>
          <a:xfrm>
            <a:off x="6236208" y="2487168"/>
            <a:ext cx="11887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RAG Retrieve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Top Chunks</a:t>
            </a:r>
            <a:endParaRPr b="0" i="0" sz="950" u="none" cap="none" strike="noStrike">
              <a:solidFill>
                <a:schemeClr val="dk1"/>
              </a:solidFill>
              <a:latin typeface="Calibri"/>
              <a:ea typeface="Calibri"/>
              <a:cs typeface="Calibri"/>
              <a:sym typeface="Calibri"/>
            </a:endParaRPr>
          </a:p>
        </p:txBody>
      </p:sp>
      <p:sp>
        <p:nvSpPr>
          <p:cNvPr id="196" name="Google Shape;196;p4"/>
          <p:cNvSpPr/>
          <p:nvPr/>
        </p:nvSpPr>
        <p:spPr>
          <a:xfrm>
            <a:off x="6236208" y="3017520"/>
            <a:ext cx="11887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top-k most relevant context</a:t>
            </a:r>
            <a:endParaRPr b="0" i="0" sz="800" u="none" cap="none" strike="noStrike">
              <a:solidFill>
                <a:schemeClr val="dk1"/>
              </a:solidFill>
              <a:latin typeface="Calibri"/>
              <a:ea typeface="Calibri"/>
              <a:cs typeface="Calibri"/>
              <a:sym typeface="Calibri"/>
            </a:endParaRPr>
          </a:p>
        </p:txBody>
      </p:sp>
      <p:sp>
        <p:nvSpPr>
          <p:cNvPr id="197" name="Google Shape;197;p4"/>
          <p:cNvSpPr/>
          <p:nvPr/>
        </p:nvSpPr>
        <p:spPr>
          <a:xfrm>
            <a:off x="7351776" y="1965960"/>
            <a:ext cx="25603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1400"/>
              <a:buFont typeface="Calibri"/>
              <a:buNone/>
            </a:pPr>
            <a:r>
              <a:rPr b="1" i="0" lang="en-US" sz="1400" u="none" cap="none" strike="noStrike">
                <a:solidFill>
                  <a:srgbClr val="6B7A9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198" name="Google Shape;198;p4"/>
          <p:cNvSpPr/>
          <p:nvPr/>
        </p:nvSpPr>
        <p:spPr>
          <a:xfrm>
            <a:off x="7662672" y="1261872"/>
            <a:ext cx="1298448" cy="2615184"/>
          </a:xfrm>
          <a:prstGeom prst="rect">
            <a:avLst/>
          </a:prstGeom>
          <a:solidFill>
            <a:srgbClr val="FFFFFF"/>
          </a:solidFill>
          <a:ln cap="flat" cmpd="sng" w="15225">
            <a:solidFill>
              <a:srgbClr val="D97706"/>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4"/>
          <p:cNvSpPr/>
          <p:nvPr/>
        </p:nvSpPr>
        <p:spPr>
          <a:xfrm>
            <a:off x="7662672" y="1261872"/>
            <a:ext cx="1298448" cy="4572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4"/>
          <p:cNvSpPr/>
          <p:nvPr/>
        </p:nvSpPr>
        <p:spPr>
          <a:xfrm>
            <a:off x="8110734" y="1687075"/>
            <a:ext cx="420600" cy="420600"/>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p:nvPr/>
        </p:nvSpPr>
        <p:spPr>
          <a:xfrm>
            <a:off x="8101609" y="1687088"/>
            <a:ext cx="420600" cy="420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6</a:t>
            </a:r>
            <a:endParaRPr b="0" i="0" sz="1300" u="none" cap="none" strike="noStrike">
              <a:solidFill>
                <a:schemeClr val="dk1"/>
              </a:solidFill>
              <a:latin typeface="Calibri"/>
              <a:ea typeface="Calibri"/>
              <a:cs typeface="Calibri"/>
              <a:sym typeface="Calibri"/>
            </a:endParaRPr>
          </a:p>
        </p:txBody>
      </p:sp>
      <p:sp>
        <p:nvSpPr>
          <p:cNvPr id="202" name="Google Shape;202;p4"/>
          <p:cNvSpPr/>
          <p:nvPr/>
        </p:nvSpPr>
        <p:spPr>
          <a:xfrm>
            <a:off x="7717536" y="2487168"/>
            <a:ext cx="1188720" cy="47548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LLM Score</a:t>
            </a:r>
            <a:endParaRPr b="0" i="0" sz="9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 Questions</a:t>
            </a:r>
            <a:endParaRPr b="0" i="0" sz="950" u="none" cap="none" strike="noStrike">
              <a:solidFill>
                <a:schemeClr val="dk1"/>
              </a:solidFill>
              <a:latin typeface="Calibri"/>
              <a:ea typeface="Calibri"/>
              <a:cs typeface="Calibri"/>
              <a:sym typeface="Calibri"/>
            </a:endParaRPr>
          </a:p>
        </p:txBody>
      </p:sp>
      <p:sp>
        <p:nvSpPr>
          <p:cNvPr id="203" name="Google Shape;203;p4"/>
          <p:cNvSpPr/>
          <p:nvPr/>
        </p:nvSpPr>
        <p:spPr>
          <a:xfrm>
            <a:off x="7717536" y="3017520"/>
            <a:ext cx="118872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structured JSON output</a:t>
            </a:r>
            <a:endParaRPr b="0" i="0" sz="800" u="none" cap="none" strike="noStrike">
              <a:solidFill>
                <a:schemeClr val="dk1"/>
              </a:solidFill>
              <a:latin typeface="Calibri"/>
              <a:ea typeface="Calibri"/>
              <a:cs typeface="Calibri"/>
              <a:sym typeface="Calibri"/>
            </a:endParaRPr>
          </a:p>
        </p:txBody>
      </p:sp>
      <p:sp>
        <p:nvSpPr>
          <p:cNvPr id="204" name="Google Shape;204;p4"/>
          <p:cNvSpPr/>
          <p:nvPr/>
        </p:nvSpPr>
        <p:spPr>
          <a:xfrm>
            <a:off x="256032" y="3977640"/>
            <a:ext cx="8631936" cy="877824"/>
          </a:xfrm>
          <a:prstGeom prst="rect">
            <a:avLst/>
          </a:prstGeom>
          <a:solidFill>
            <a:srgbClr val="2563EB">
              <a:alpha val="7843"/>
            </a:srgbClr>
          </a:solidFill>
          <a:ln cap="flat" cmpd="sng" w="15225">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p:nvPr/>
        </p:nvSpPr>
        <p:spPr>
          <a:xfrm>
            <a:off x="384048" y="4050792"/>
            <a:ext cx="914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563EB"/>
              </a:buClr>
              <a:buSzPts val="800"/>
              <a:buFont typeface="Calibri"/>
              <a:buNone/>
            </a:pPr>
            <a:r>
              <a:rPr b="1" i="0" lang="en-US" sz="800" u="none" cap="none" strike="noStrike">
                <a:solidFill>
                  <a:srgbClr val="2563EB"/>
                </a:solidFill>
                <a:latin typeface="Calibri"/>
                <a:ea typeface="Calibri"/>
                <a:cs typeface="Calibri"/>
                <a:sym typeface="Calibri"/>
              </a:rPr>
              <a:t>OUTPUT</a:t>
            </a:r>
            <a:endParaRPr b="0" i="0" sz="800" u="none" cap="none" strike="noStrike">
              <a:solidFill>
                <a:schemeClr val="dk1"/>
              </a:solidFill>
              <a:latin typeface="Calibri"/>
              <a:ea typeface="Calibri"/>
              <a:cs typeface="Calibri"/>
              <a:sym typeface="Calibri"/>
            </a:endParaRPr>
          </a:p>
        </p:txBody>
      </p:sp>
      <p:sp>
        <p:nvSpPr>
          <p:cNvPr id="206" name="Google Shape;206;p4"/>
          <p:cNvSpPr/>
          <p:nvPr/>
        </p:nvSpPr>
        <p:spPr>
          <a:xfrm>
            <a:off x="672208"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Ranked Candidates</a:t>
            </a:r>
            <a:endParaRPr b="0" i="0" sz="950" u="none" cap="none" strike="noStrike">
              <a:solidFill>
                <a:schemeClr val="dk1"/>
              </a:solidFill>
              <a:latin typeface="Calibri"/>
              <a:ea typeface="Calibri"/>
              <a:cs typeface="Calibri"/>
              <a:sym typeface="Calibri"/>
            </a:endParaRPr>
          </a:p>
        </p:txBody>
      </p:sp>
      <p:sp>
        <p:nvSpPr>
          <p:cNvPr id="207" name="Google Shape;207;p4"/>
          <p:cNvSpPr/>
          <p:nvPr/>
        </p:nvSpPr>
        <p:spPr>
          <a:xfrm>
            <a:off x="2268492"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Match Score 0–100</a:t>
            </a:r>
            <a:endParaRPr b="0" i="0" sz="950" u="none" cap="none" strike="noStrike">
              <a:solidFill>
                <a:schemeClr val="dk1"/>
              </a:solidFill>
              <a:latin typeface="Calibri"/>
              <a:ea typeface="Calibri"/>
              <a:cs typeface="Calibri"/>
              <a:sym typeface="Calibri"/>
            </a:endParaRPr>
          </a:p>
        </p:txBody>
      </p:sp>
      <p:sp>
        <p:nvSpPr>
          <p:cNvPr id="208" name="Google Shape;208;p4"/>
          <p:cNvSpPr/>
          <p:nvPr/>
        </p:nvSpPr>
        <p:spPr>
          <a:xfrm>
            <a:off x="3722377"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Strengths</a:t>
            </a:r>
            <a:endParaRPr b="0" i="0" sz="950" u="none" cap="none" strike="noStrike">
              <a:solidFill>
                <a:schemeClr val="dk1"/>
              </a:solidFill>
              <a:latin typeface="Calibri"/>
              <a:ea typeface="Calibri"/>
              <a:cs typeface="Calibri"/>
              <a:sym typeface="Calibri"/>
            </a:endParaRPr>
          </a:p>
        </p:txBody>
      </p:sp>
      <p:sp>
        <p:nvSpPr>
          <p:cNvPr id="209" name="Google Shape;209;p4"/>
          <p:cNvSpPr/>
          <p:nvPr/>
        </p:nvSpPr>
        <p:spPr>
          <a:xfrm>
            <a:off x="4910974"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Skill Gaps</a:t>
            </a:r>
            <a:endParaRPr b="0" i="0" sz="950" u="none" cap="none" strike="noStrike">
              <a:solidFill>
                <a:schemeClr val="dk1"/>
              </a:solidFill>
              <a:latin typeface="Calibri"/>
              <a:ea typeface="Calibri"/>
              <a:cs typeface="Calibri"/>
              <a:sym typeface="Calibri"/>
            </a:endParaRPr>
          </a:p>
        </p:txBody>
      </p:sp>
      <p:sp>
        <p:nvSpPr>
          <p:cNvPr id="210" name="Google Shape;210;p4"/>
          <p:cNvSpPr/>
          <p:nvPr/>
        </p:nvSpPr>
        <p:spPr>
          <a:xfrm>
            <a:off x="6322246"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Reasoning</a:t>
            </a:r>
            <a:endParaRPr b="0" i="0" sz="950" u="none" cap="none" strike="noStrike">
              <a:solidFill>
                <a:schemeClr val="dk1"/>
              </a:solidFill>
              <a:latin typeface="Calibri"/>
              <a:ea typeface="Calibri"/>
              <a:cs typeface="Calibri"/>
              <a:sym typeface="Calibri"/>
            </a:endParaRPr>
          </a:p>
        </p:txBody>
      </p:sp>
      <p:sp>
        <p:nvSpPr>
          <p:cNvPr id="211" name="Google Shape;211;p4"/>
          <p:cNvSpPr/>
          <p:nvPr/>
        </p:nvSpPr>
        <p:spPr>
          <a:xfrm>
            <a:off x="7689255" y="4041648"/>
            <a:ext cx="1188600" cy="694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Interview Questions</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5"/>
          <p:cNvSpPr/>
          <p:nvPr/>
        </p:nvSpPr>
        <p:spPr>
          <a:xfrm>
            <a:off x="0" y="0"/>
            <a:ext cx="9144000" cy="54864"/>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0" y="0"/>
            <a:ext cx="64008" cy="5143500"/>
          </a:xfrm>
          <a:prstGeom prst="rect">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900"/>
              <a:buFont typeface="Calibri"/>
              <a:buNone/>
            </a:pPr>
            <a:r>
              <a:rPr b="1" i="0" lang="en-US" sz="900" u="none" cap="none" strike="noStrike">
                <a:solidFill>
                  <a:srgbClr val="7C3AED"/>
                </a:solidFill>
                <a:latin typeface="Calibri"/>
                <a:ea typeface="Calibri"/>
                <a:cs typeface="Calibri"/>
                <a:sym typeface="Calibri"/>
              </a:rPr>
              <a:t>THE CODE</a:t>
            </a:r>
            <a:endParaRPr b="0" i="0" sz="900" u="none" cap="none" strike="noStrike">
              <a:solidFill>
                <a:schemeClr val="dk1"/>
              </a:solidFill>
              <a:latin typeface="Calibri"/>
              <a:ea typeface="Calibri"/>
              <a:cs typeface="Calibri"/>
              <a:sym typeface="Calibri"/>
            </a:endParaRPr>
          </a:p>
        </p:txBody>
      </p:sp>
      <p:sp>
        <p:nvSpPr>
          <p:cNvPr id="220" name="Google Shape;220;p5"/>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RAG Pipeline</a:t>
            </a:r>
            <a:endParaRPr b="0" i="0" sz="3000" u="none" cap="none" strike="noStrike">
              <a:solidFill>
                <a:schemeClr val="dk1"/>
              </a:solidFill>
              <a:latin typeface="Calibri"/>
              <a:ea typeface="Calibri"/>
              <a:cs typeface="Calibri"/>
              <a:sym typeface="Calibri"/>
            </a:endParaRPr>
          </a:p>
        </p:txBody>
      </p:sp>
      <p:sp>
        <p:nvSpPr>
          <p:cNvPr id="221" name="Google Shape;221;p5"/>
          <p:cNvSpPr/>
          <p:nvPr/>
        </p:nvSpPr>
        <p:spPr>
          <a:xfrm>
            <a:off x="292608" y="1170432"/>
            <a:ext cx="4133088" cy="3749040"/>
          </a:xfrm>
          <a:prstGeom prst="rect">
            <a:avLst/>
          </a:prstGeom>
          <a:solidFill>
            <a:srgbClr val="1B2A4A"/>
          </a:solidFill>
          <a:ln cap="flat" cmpd="sng" w="19050">
            <a:solidFill>
              <a:srgbClr val="0D9488"/>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5"/>
          <p:cNvSpPr/>
          <p:nvPr/>
        </p:nvSpPr>
        <p:spPr>
          <a:xfrm>
            <a:off x="292608" y="1170432"/>
            <a:ext cx="4133088" cy="274320"/>
          </a:xfrm>
          <a:prstGeom prst="rect">
            <a:avLst/>
          </a:prstGeom>
          <a:solidFill>
            <a:srgbClr val="142038"/>
          </a:solidFill>
          <a:ln cap="flat" cmpd="sng" w="12700">
            <a:solidFill>
              <a:srgbClr val="14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5"/>
          <p:cNvSpPr/>
          <p:nvPr/>
        </p:nvSpPr>
        <p:spPr>
          <a:xfrm>
            <a:off x="402336" y="1170432"/>
            <a:ext cx="39867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800"/>
              <a:buFont typeface="Consolas"/>
              <a:buNone/>
            </a:pPr>
            <a:r>
              <a:rPr lang="en-US" sz="800">
                <a:solidFill>
                  <a:srgbClr val="7B8FB0"/>
                </a:solidFill>
                <a:latin typeface="Consolas"/>
                <a:ea typeface="Consolas"/>
                <a:cs typeface="Consolas"/>
                <a:sym typeface="Consolas"/>
              </a:rPr>
              <a:t>Steps 2 and 3</a:t>
            </a:r>
            <a:endParaRPr b="0" i="0" sz="800" u="none" cap="none" strike="noStrike">
              <a:solidFill>
                <a:schemeClr val="dk1"/>
              </a:solidFill>
              <a:latin typeface="Calibri"/>
              <a:ea typeface="Calibri"/>
              <a:cs typeface="Calibri"/>
              <a:sym typeface="Calibri"/>
            </a:endParaRPr>
          </a:p>
        </p:txBody>
      </p:sp>
      <p:sp>
        <p:nvSpPr>
          <p:cNvPr id="224" name="Google Shape;224;p5"/>
          <p:cNvSpPr/>
          <p:nvPr/>
        </p:nvSpPr>
        <p:spPr>
          <a:xfrm>
            <a:off x="402336" y="1499616"/>
            <a:ext cx="3913632" cy="3310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 WHY: resumes are too long for one comparison.</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We split into 80-word windows so cosine similarity</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scores specific sections, not just the full doc.</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split_string_into_chunks</a:t>
            </a:r>
            <a:r>
              <a:rPr b="0" i="0" lang="en-US" sz="800" u="none" cap="none" strike="noStrike">
                <a:solidFill>
                  <a:srgbClr val="E2E8F4"/>
                </a:solidFill>
                <a:latin typeface="Consolas"/>
                <a:ea typeface="Consolas"/>
                <a:cs typeface="Consolas"/>
                <a:sym typeface="Consolas"/>
              </a:rPr>
              <a:t>(text, size=80):</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words = text.split()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E2E8F4"/>
                </a:solidFill>
                <a:latin typeface="Consolas"/>
                <a:ea typeface="Consolas"/>
                <a:cs typeface="Consolas"/>
                <a:sym typeface="Consolas"/>
              </a:rPr>
              <a: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 '</a:t>
            </a:r>
            <a:r>
              <a:rPr b="0" i="0" lang="en-US" sz="800" u="none" cap="none" strike="noStrike">
                <a:solidFill>
                  <a:srgbClr val="E2E8F4"/>
                </a:solidFill>
                <a:latin typeface="Consolas"/>
                <a:ea typeface="Consolas"/>
                <a:cs typeface="Consolas"/>
                <a:sym typeface="Consolas"/>
              </a:rPr>
              <a:t>.join(words[i:i+size])</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for i in range(0, len(words), size)</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 or [text]</a:t>
            </a:r>
            <a:br>
              <a:rPr b="0" i="0" lang="en-US" sz="800" u="none" cap="none" strike="noStrike">
                <a:solidFill>
                  <a:srgbClr val="E2E8F4"/>
                </a:solidFill>
                <a:latin typeface="Consolas"/>
                <a:ea typeface="Consolas"/>
                <a:cs typeface="Consolas"/>
                <a:sym typeface="Consolas"/>
              </a:rPr>
            </a:b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WHY: we encode text as a keyword-presence vector.</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Each dimension = one skill keyword (e.g. 'python',</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'rag', 'pytorch'). Fast, no API call needed.</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model_encode</a:t>
            </a:r>
            <a:r>
              <a:rPr b="0" i="0" lang="en-US" sz="800" u="none" cap="none" strike="noStrike">
                <a:solidFill>
                  <a:srgbClr val="E2E8F4"/>
                </a:solidFill>
                <a:latin typeface="Consolas"/>
                <a:ea typeface="Consolas"/>
                <a:cs typeface="Consolas"/>
                <a:sym typeface="Consolas"/>
              </a:rPr>
              <a:t>(self, text):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lower = text.lower()</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E2E8F4"/>
                </a:solidFill>
                <a:latin typeface="Consolas"/>
                <a:ea typeface="Consolas"/>
                <a:cs typeface="Consolas"/>
                <a:sym typeface="Consolas"/>
              </a:rPr>
              <a:t>np.array([</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min(len(re.findall(k, lower)) / </a:t>
            </a:r>
            <a:r>
              <a:rPr b="0" i="0" lang="en-US" sz="800" u="none" cap="none" strike="noStrike">
                <a:solidFill>
                  <a:srgbClr val="FCD34D"/>
                </a:solidFill>
                <a:latin typeface="Consolas"/>
                <a:ea typeface="Consolas"/>
                <a:cs typeface="Consolas"/>
                <a:sym typeface="Consolas"/>
              </a:rPr>
              <a:t>2.0</a:t>
            </a: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D34D"/>
                </a:solidFill>
                <a:latin typeface="Consolas"/>
                <a:ea typeface="Consolas"/>
                <a:cs typeface="Consolas"/>
                <a:sym typeface="Consolas"/>
              </a:rPr>
              <a:t>1.0</a:t>
            </a:r>
            <a:r>
              <a:rPr b="0" i="0" lang="en-US" sz="800" u="none" cap="none" strike="noStrike">
                <a:solidFill>
                  <a:srgbClr val="E2E8F4"/>
                </a:solidFill>
                <a:latin typeface="Consolas"/>
                <a:ea typeface="Consolas"/>
                <a:cs typeface="Consolas"/>
                <a:sym typeface="Consolas"/>
              </a:rPr>
              <a: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for </a:t>
            </a:r>
            <a:r>
              <a:rPr b="0" i="0" lang="en-US" sz="800" u="none" cap="none" strike="noStrike">
                <a:solidFill>
                  <a:srgbClr val="E2E8F4"/>
                </a:solidFill>
                <a:latin typeface="Consolas"/>
                <a:ea typeface="Consolas"/>
                <a:cs typeface="Consolas"/>
                <a:sym typeface="Consolas"/>
              </a:rPr>
              <a:t>k </a:t>
            </a:r>
            <a:r>
              <a:rPr b="0" i="0" lang="en-US" sz="800" u="none" cap="none" strike="noStrike">
                <a:solidFill>
                  <a:srgbClr val="60A5FA"/>
                </a:solidFill>
                <a:latin typeface="Consolas"/>
                <a:ea typeface="Consolas"/>
                <a:cs typeface="Consolas"/>
                <a:sym typeface="Consolas"/>
              </a:rPr>
              <a:t>in </a:t>
            </a:r>
            <a:r>
              <a:rPr b="0" i="0" lang="en-US" sz="800" u="none" cap="none" strike="noStrike">
                <a:solidFill>
                  <a:srgbClr val="E2E8F4"/>
                </a:solidFill>
                <a:latin typeface="Consolas"/>
                <a:ea typeface="Consolas"/>
                <a:cs typeface="Consolas"/>
                <a:sym typeface="Consolas"/>
              </a:rPr>
              <a:t>self.KEYWORDS  # 50 tech keywords</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endParaRPr b="0" i="0" sz="800" u="none" cap="none" strike="noStrike">
              <a:solidFill>
                <a:schemeClr val="dk1"/>
              </a:solidFill>
              <a:latin typeface="Calibri"/>
              <a:ea typeface="Calibri"/>
              <a:cs typeface="Calibri"/>
              <a:sym typeface="Calibri"/>
            </a:endParaRPr>
          </a:p>
        </p:txBody>
      </p:sp>
      <p:sp>
        <p:nvSpPr>
          <p:cNvPr id="225" name="Google Shape;225;p5"/>
          <p:cNvSpPr/>
          <p:nvPr/>
        </p:nvSpPr>
        <p:spPr>
          <a:xfrm>
            <a:off x="4700016" y="1170432"/>
            <a:ext cx="4133088" cy="3749040"/>
          </a:xfrm>
          <a:prstGeom prst="rect">
            <a:avLst/>
          </a:prstGeom>
          <a:solidFill>
            <a:srgbClr val="1B2A4A"/>
          </a:solidFill>
          <a:ln cap="flat" cmpd="sng" w="19050">
            <a:solidFill>
              <a:srgbClr val="2563EB"/>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4700016" y="1170432"/>
            <a:ext cx="4133088" cy="274320"/>
          </a:xfrm>
          <a:prstGeom prst="rect">
            <a:avLst/>
          </a:prstGeom>
          <a:solidFill>
            <a:srgbClr val="142038"/>
          </a:solidFill>
          <a:ln cap="flat" cmpd="sng" w="12700">
            <a:solidFill>
              <a:srgbClr val="14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4809744" y="1170432"/>
            <a:ext cx="3986784"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800"/>
              <a:buFont typeface="Consolas"/>
              <a:buNone/>
            </a:pPr>
            <a:r>
              <a:rPr lang="en-US" sz="800">
                <a:solidFill>
                  <a:srgbClr val="7B8FB0"/>
                </a:solidFill>
                <a:latin typeface="Consolas"/>
                <a:ea typeface="Consolas"/>
                <a:cs typeface="Consolas"/>
                <a:sym typeface="Consolas"/>
              </a:rPr>
              <a:t>Steps 4 and 5</a:t>
            </a:r>
            <a:endParaRPr b="0" i="0" sz="800" u="none" cap="none" strike="noStrike">
              <a:solidFill>
                <a:schemeClr val="dk1"/>
              </a:solidFill>
              <a:latin typeface="Calibri"/>
              <a:ea typeface="Calibri"/>
              <a:cs typeface="Calibri"/>
              <a:sym typeface="Calibri"/>
            </a:endParaRPr>
          </a:p>
        </p:txBody>
      </p:sp>
      <p:sp>
        <p:nvSpPr>
          <p:cNvPr id="228" name="Google Shape;228;p5"/>
          <p:cNvSpPr/>
          <p:nvPr/>
        </p:nvSpPr>
        <p:spPr>
          <a:xfrm>
            <a:off x="4809744" y="1499616"/>
            <a:ext cx="3913632" cy="33101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 WHY: cosine similarity measures the angle between</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two vectors — 1.0 = perfect match, 0 = no overlap.</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Ranks all resume chunks vs the JD embedding.</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retrieve_top_chunks</a:t>
            </a:r>
            <a:r>
              <a:rPr b="0" i="0" lang="en-US" sz="800" u="none" cap="none" strike="noStrike">
                <a:solidFill>
                  <a:srgbClr val="E2E8F4"/>
                </a:solidFill>
                <a:latin typeface="Consolas"/>
                <a:ea typeface="Consolas"/>
                <a:cs typeface="Consolas"/>
                <a:sym typeface="Consolas"/>
              </a:rPr>
              <a:t>(self, q_emb, chunks, k=3):</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sims = cosine_similarity(</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[q_emb],</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[self.model_encode(c) for c in chunks]</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)[0]</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 argsort gives ascending — [::-1] reverses it</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FCA5A5"/>
                </a:solidFill>
                <a:latin typeface="Consolas"/>
                <a:ea typeface="Consolas"/>
                <a:cs typeface="Consolas"/>
                <a:sym typeface="Consolas"/>
              </a:rPr>
              <a:t>' '</a:t>
            </a:r>
            <a:r>
              <a:rPr b="0" i="0" lang="en-US" sz="800" u="none" cap="none" strike="noStrike">
                <a:solidFill>
                  <a:srgbClr val="E2E8F4"/>
                </a:solidFill>
                <a:latin typeface="Consolas"/>
                <a:ea typeface="Consolas"/>
                <a:cs typeface="Consolas"/>
                <a:sym typeface="Consolas"/>
              </a:rPr>
              <a:t>.join(</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chunks[i] for i in np.argsort(sims)[::-1][:k]</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WHY: full RAG pipeline — combines all 3 steps.</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Returns context (best chunks) + similarity score.</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RAG</a:t>
            </a:r>
            <a:r>
              <a:rPr b="0" i="0" lang="en-US" sz="800" u="none" cap="none" strike="noStrike">
                <a:solidFill>
                  <a:srgbClr val="E2E8F4"/>
                </a:solidFill>
                <a:latin typeface="Consolas"/>
                <a:ea typeface="Consolas"/>
                <a:cs typeface="Consolas"/>
                <a:sym typeface="Consolas"/>
              </a:rPr>
              <a:t>(self, query, resume_text):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q_emb   = self.</a:t>
            </a:r>
            <a:r>
              <a:rPr b="0" i="0" lang="en-US" sz="800" u="none" cap="none" strike="noStrike">
                <a:solidFill>
                  <a:srgbClr val="4ADE80"/>
                </a:solidFill>
                <a:latin typeface="Consolas"/>
                <a:ea typeface="Consolas"/>
                <a:cs typeface="Consolas"/>
                <a:sym typeface="Consolas"/>
              </a:rPr>
              <a:t>model_encode</a:t>
            </a:r>
            <a:r>
              <a:rPr b="0" i="0" lang="en-US" sz="800" u="none" cap="none" strike="noStrike">
                <a:solidFill>
                  <a:srgbClr val="E2E8F4"/>
                </a:solidFill>
                <a:latin typeface="Consolas"/>
                <a:ea typeface="Consolas"/>
                <a:cs typeface="Consolas"/>
                <a:sym typeface="Consolas"/>
              </a:rPr>
              <a:t>(query)</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chunks  = self.</a:t>
            </a:r>
            <a:r>
              <a:rPr b="0" i="0" lang="en-US" sz="800" u="none" cap="none" strike="noStrike">
                <a:solidFill>
                  <a:srgbClr val="4ADE80"/>
                </a:solidFill>
                <a:latin typeface="Consolas"/>
                <a:ea typeface="Consolas"/>
                <a:cs typeface="Consolas"/>
                <a:sym typeface="Consolas"/>
              </a:rPr>
              <a:t>split_string_into_chunks</a:t>
            </a:r>
            <a:r>
              <a:rPr b="0" i="0" lang="en-US" sz="800" u="none" cap="none" strike="noStrike">
                <a:solidFill>
                  <a:srgbClr val="E2E8F4"/>
                </a:solidFill>
                <a:latin typeface="Consolas"/>
                <a:ea typeface="Consolas"/>
                <a:cs typeface="Consolas"/>
                <a:sym typeface="Consolas"/>
              </a:rPr>
              <a:t>(resume_text)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context = self.</a:t>
            </a:r>
            <a:r>
              <a:rPr b="0" i="0" lang="en-US" sz="800" u="none" cap="none" strike="noStrike">
                <a:solidFill>
                  <a:srgbClr val="4ADE80"/>
                </a:solidFill>
                <a:latin typeface="Consolas"/>
                <a:ea typeface="Consolas"/>
                <a:cs typeface="Consolas"/>
                <a:sym typeface="Consolas"/>
              </a:rPr>
              <a:t>retrieve_top_chunks</a:t>
            </a:r>
            <a:r>
              <a:rPr b="0" i="0" lang="en-US" sz="800" u="none" cap="none" strike="noStrike">
                <a:solidFill>
                  <a:srgbClr val="E2E8F4"/>
                </a:solidFill>
                <a:latin typeface="Consolas"/>
                <a:ea typeface="Consolas"/>
                <a:cs typeface="Consolas"/>
                <a:sym typeface="Consolas"/>
              </a:rPr>
              <a:t>(q_emb, chunks)</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sim     = cosine_similarity([q_emb],</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[self.model_encode(resume_text)])[0][0]</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E2E8F4"/>
                </a:solidFill>
                <a:latin typeface="Consolas"/>
                <a:ea typeface="Consolas"/>
                <a:cs typeface="Consolas"/>
                <a:sym typeface="Consolas"/>
              </a:rPr>
              <a:t>{context, similarity: sim}</a:t>
            </a:r>
            <a:br>
              <a:rPr b="0" i="0" lang="en-US" sz="800" u="none" cap="none" strike="noStrike">
                <a:solidFill>
                  <a:srgbClr val="E2E8F4"/>
                </a:solidFill>
                <a:latin typeface="Consolas"/>
                <a:ea typeface="Consolas"/>
                <a:cs typeface="Consolas"/>
                <a:sym typeface="Consolas"/>
              </a:rPr>
            </a:b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3" name="Shape 233"/>
        <p:cNvGrpSpPr/>
        <p:nvPr/>
      </p:nvGrpSpPr>
      <p:grpSpPr>
        <a:xfrm>
          <a:off x="0" y="0"/>
          <a:ext cx="0" cy="0"/>
          <a:chOff x="0" y="0"/>
          <a:chExt cx="0" cy="0"/>
        </a:xfrm>
      </p:grpSpPr>
      <p:sp>
        <p:nvSpPr>
          <p:cNvPr id="234" name="Google Shape;234;p6"/>
          <p:cNvSpPr/>
          <p:nvPr/>
        </p:nvSpPr>
        <p:spPr>
          <a:xfrm>
            <a:off x="0" y="0"/>
            <a:ext cx="9144000" cy="54864"/>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p:nvPr/>
        </p:nvSpPr>
        <p:spPr>
          <a:xfrm>
            <a:off x="0" y="0"/>
            <a:ext cx="64008" cy="51435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6"/>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900"/>
              <a:buFont typeface="Calibri"/>
              <a:buNone/>
            </a:pPr>
            <a:r>
              <a:rPr b="1" i="0" lang="en-US" sz="900" u="none" cap="none" strike="noStrike">
                <a:solidFill>
                  <a:srgbClr val="16A34A"/>
                </a:solidFill>
                <a:latin typeface="Calibri"/>
                <a:ea typeface="Calibri"/>
                <a:cs typeface="Calibri"/>
                <a:sym typeface="Calibri"/>
              </a:rPr>
              <a:t>API KEYS &amp; LLM INTEGRATION</a:t>
            </a:r>
            <a:endParaRPr b="0" i="0" sz="900" u="none" cap="none" strike="noStrike">
              <a:solidFill>
                <a:schemeClr val="dk1"/>
              </a:solidFill>
              <a:latin typeface="Calibri"/>
              <a:ea typeface="Calibri"/>
              <a:cs typeface="Calibri"/>
              <a:sym typeface="Calibri"/>
            </a:endParaRPr>
          </a:p>
        </p:txBody>
      </p:sp>
      <p:sp>
        <p:nvSpPr>
          <p:cNvPr id="237" name="Google Shape;237;p6"/>
          <p:cNvSpPr/>
          <p:nvPr/>
        </p:nvSpPr>
        <p:spPr>
          <a:xfrm>
            <a:off x="292608" y="357939"/>
            <a:ext cx="85953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Connecting to ChatGPT &amp; Claude</a:t>
            </a:r>
            <a:endParaRPr b="0" i="0" sz="3000" u="none" cap="none" strike="noStrike">
              <a:solidFill>
                <a:schemeClr val="dk1"/>
              </a:solidFill>
              <a:latin typeface="Calibri"/>
              <a:ea typeface="Calibri"/>
              <a:cs typeface="Calibri"/>
              <a:sym typeface="Calibri"/>
            </a:endParaRPr>
          </a:p>
        </p:txBody>
      </p:sp>
      <p:sp>
        <p:nvSpPr>
          <p:cNvPr id="238" name="Google Shape;238;p6"/>
          <p:cNvSpPr/>
          <p:nvPr/>
        </p:nvSpPr>
        <p:spPr>
          <a:xfrm>
            <a:off x="292600" y="1001475"/>
            <a:ext cx="4133100" cy="1993500"/>
          </a:xfrm>
          <a:prstGeom prst="rect">
            <a:avLst/>
          </a:prstGeom>
          <a:solidFill>
            <a:srgbClr val="1B2A4A"/>
          </a:solidFill>
          <a:ln cap="flat" cmpd="sng" w="19050">
            <a:solidFill>
              <a:srgbClr val="059669"/>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6"/>
          <p:cNvSpPr/>
          <p:nvPr/>
        </p:nvSpPr>
        <p:spPr>
          <a:xfrm>
            <a:off x="292608" y="988599"/>
            <a:ext cx="4133100" cy="274200"/>
          </a:xfrm>
          <a:prstGeom prst="rect">
            <a:avLst/>
          </a:prstGeom>
          <a:solidFill>
            <a:srgbClr val="142038"/>
          </a:solidFill>
          <a:ln cap="flat" cmpd="sng" w="12700">
            <a:solidFill>
              <a:srgbClr val="14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6"/>
          <p:cNvSpPr/>
          <p:nvPr/>
        </p:nvSpPr>
        <p:spPr>
          <a:xfrm>
            <a:off x="402336" y="976660"/>
            <a:ext cx="39867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800"/>
              <a:buFont typeface="Consolas"/>
              <a:buNone/>
            </a:pPr>
            <a:r>
              <a:rPr b="0" i="0" lang="en-US" sz="800" u="none" cap="none" strike="noStrike">
                <a:solidFill>
                  <a:srgbClr val="7B8FB0"/>
                </a:solidFill>
                <a:latin typeface="Consolas"/>
                <a:ea typeface="Consolas"/>
                <a:cs typeface="Consolas"/>
                <a:sym typeface="Consolas"/>
              </a:rPr>
              <a:t>prompt_function_openai  </a:t>
            </a:r>
            <a:endParaRPr b="0" i="0" sz="800" u="none" cap="none" strike="noStrike">
              <a:solidFill>
                <a:schemeClr val="dk1"/>
              </a:solidFill>
              <a:latin typeface="Calibri"/>
              <a:ea typeface="Calibri"/>
              <a:cs typeface="Calibri"/>
              <a:sym typeface="Calibri"/>
            </a:endParaRPr>
          </a:p>
        </p:txBody>
      </p:sp>
      <p:sp>
        <p:nvSpPr>
          <p:cNvPr id="241" name="Google Shape;241;p6"/>
          <p:cNvSpPr/>
          <p:nvPr/>
        </p:nvSpPr>
        <p:spPr>
          <a:xfrm>
            <a:off x="402336" y="1330658"/>
            <a:ext cx="3913500" cy="1993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99"/>
              </a:buClr>
              <a:buSzPts val="800"/>
              <a:buFont typeface="Consolas"/>
              <a:buNone/>
            </a:pPr>
            <a:r>
              <a:rPr b="0" i="0" lang="en-US" sz="800" u="none" cap="none" strike="noStrike">
                <a:solidFill>
                  <a:srgbClr val="6B7A99"/>
                </a:solidFill>
                <a:latin typeface="Consolas"/>
                <a:ea typeface="Consolas"/>
                <a:cs typeface="Consolas"/>
                <a:sym typeface="Consolas"/>
              </a:rPr>
              <a:t>#</a:t>
            </a:r>
            <a:r>
              <a:rPr lang="en-US" sz="800">
                <a:solidFill>
                  <a:srgbClr val="6B7A99"/>
                </a:solidFill>
                <a:latin typeface="Consolas"/>
                <a:ea typeface="Consolas"/>
                <a:cs typeface="Consolas"/>
                <a:sym typeface="Consolas"/>
              </a:rPr>
              <a:t> </a:t>
            </a:r>
            <a:r>
              <a:rPr b="0" i="0" lang="en-US" sz="800" u="none" cap="none" strike="noStrike">
                <a:solidFill>
                  <a:srgbClr val="6B7A99"/>
                </a:solidFill>
                <a:latin typeface="Consolas"/>
                <a:ea typeface="Consolas"/>
                <a:cs typeface="Consolas"/>
                <a:sym typeface="Consolas"/>
              </a:rPr>
              <a:t>as a messages list — role + content — exactly</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like generate_response() from class.</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prompt_function_openai</a:t>
            </a:r>
            <a:r>
              <a:rPr b="0" i="0" lang="en-US" sz="800" u="none" cap="none" strike="noStrike">
                <a:solidFill>
                  <a:srgbClr val="E2E8F4"/>
                </a:solidFill>
                <a:latin typeface="Consolas"/>
                <a:ea typeface="Consolas"/>
                <a:cs typeface="Consolas"/>
                <a:sym typeface="Consolas"/>
              </a:rPr>
              <a:t>(self, prompt, key, model):</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client = OpenAI(api_key=key)  </a:t>
            </a:r>
            <a:r>
              <a:rPr b="0" i="0" lang="en-US" sz="800" u="none" cap="none" strike="noStrike">
                <a:solidFill>
                  <a:srgbClr val="6B7A99"/>
                </a:solidFill>
                <a:latin typeface="Consolas"/>
                <a:ea typeface="Consolas"/>
                <a:cs typeface="Consolas"/>
                <a:sym typeface="Consolas"/>
              </a:rPr>
              <a:t># your sk-... key</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r = client.chat.completions.create(</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model=model,  </a:t>
            </a:r>
            <a:r>
              <a:rPr b="0" i="0" lang="en-US" sz="800" u="none" cap="none" strike="noStrike">
                <a:solidFill>
                  <a:srgbClr val="6B7A99"/>
                </a:solidFill>
                <a:latin typeface="Consolas"/>
                <a:ea typeface="Consolas"/>
                <a:cs typeface="Consolas"/>
                <a:sym typeface="Consolas"/>
              </a:rPr>
              <a:t># e.g. 'gpt-4o'</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temperature=</a:t>
            </a:r>
            <a:r>
              <a:rPr b="0" i="0" lang="en-US" sz="800" u="none" cap="none" strike="noStrike">
                <a:solidFill>
                  <a:srgbClr val="FCD34D"/>
                </a:solidFill>
                <a:latin typeface="Consolas"/>
                <a:ea typeface="Consolas"/>
                <a:cs typeface="Consolas"/>
                <a:sym typeface="Consolas"/>
              </a:rPr>
              <a:t>0</a:t>
            </a: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6B7A99"/>
                </a:solidFill>
                <a:latin typeface="Consolas"/>
                <a:ea typeface="Consolas"/>
                <a:cs typeface="Consolas"/>
                <a:sym typeface="Consolas"/>
              </a:rPr>
              <a:t># deterministic output</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messages=[{</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"role"</a:t>
            </a: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"user"</a:t>
            </a:r>
            <a:r>
              <a:rPr b="0" i="0" lang="en-US" sz="800" u="none" cap="none" strike="noStrike">
                <a:solidFill>
                  <a:srgbClr val="E2E8F4"/>
                </a:solidFill>
                <a:latin typeface="Consolas"/>
                <a:ea typeface="Consolas"/>
                <a:cs typeface="Consolas"/>
                <a:sym typeface="Consolas"/>
              </a:rPr>
              <a: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"content"</a:t>
            </a:r>
            <a:r>
              <a:rPr b="0" i="0" lang="en-US" sz="800" u="none" cap="none" strike="noStrike">
                <a:solidFill>
                  <a:srgbClr val="E2E8F4"/>
                </a:solidFill>
                <a:latin typeface="Consolas"/>
                <a:ea typeface="Consolas"/>
                <a:cs typeface="Consolas"/>
                <a:sym typeface="Consolas"/>
              </a:rPr>
              <a:t>: prompt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E2E8F4"/>
                </a:solidFill>
                <a:latin typeface="Consolas"/>
                <a:ea typeface="Consolas"/>
                <a:cs typeface="Consolas"/>
                <a:sym typeface="Consolas"/>
              </a:rPr>
              <a:t>r.choices[</a:t>
            </a:r>
            <a:r>
              <a:rPr b="0" i="0" lang="en-US" sz="800" u="none" cap="none" strike="noStrike">
                <a:solidFill>
                  <a:srgbClr val="FCD34D"/>
                </a:solidFill>
                <a:latin typeface="Consolas"/>
                <a:ea typeface="Consolas"/>
                <a:cs typeface="Consolas"/>
                <a:sym typeface="Consolas"/>
              </a:rPr>
              <a:t>0</a:t>
            </a:r>
            <a:r>
              <a:rPr b="0" i="0" lang="en-US" sz="800" u="none" cap="none" strike="noStrike">
                <a:solidFill>
                  <a:srgbClr val="E2E8F4"/>
                </a:solidFill>
                <a:latin typeface="Consolas"/>
                <a:ea typeface="Consolas"/>
                <a:cs typeface="Consolas"/>
                <a:sym typeface="Consolas"/>
              </a:rPr>
              <a:t>].message.content</a:t>
            </a:r>
            <a:br>
              <a:rPr b="0" i="0" lang="en-US" sz="800" u="none" cap="none" strike="noStrike">
                <a:solidFill>
                  <a:srgbClr val="E2E8F4"/>
                </a:solidFill>
                <a:latin typeface="Consolas"/>
                <a:ea typeface="Consolas"/>
                <a:cs typeface="Consolas"/>
                <a:sym typeface="Consolas"/>
              </a:rPr>
            </a:br>
            <a:endParaRPr b="0" i="0" sz="800" u="none" cap="none" strike="noStrike">
              <a:solidFill>
                <a:schemeClr val="dk1"/>
              </a:solidFill>
              <a:latin typeface="Calibri"/>
              <a:ea typeface="Calibri"/>
              <a:cs typeface="Calibri"/>
              <a:sym typeface="Calibri"/>
            </a:endParaRPr>
          </a:p>
        </p:txBody>
      </p:sp>
      <p:sp>
        <p:nvSpPr>
          <p:cNvPr id="242" name="Google Shape;242;p6"/>
          <p:cNvSpPr/>
          <p:nvPr/>
        </p:nvSpPr>
        <p:spPr>
          <a:xfrm>
            <a:off x="287429" y="3031801"/>
            <a:ext cx="4133100" cy="1993500"/>
          </a:xfrm>
          <a:prstGeom prst="rect">
            <a:avLst/>
          </a:prstGeom>
          <a:solidFill>
            <a:srgbClr val="1B2A4A"/>
          </a:solidFill>
          <a:ln cap="flat" cmpd="sng" w="19050">
            <a:solidFill>
              <a:srgbClr val="C2410C"/>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6"/>
          <p:cNvSpPr/>
          <p:nvPr/>
        </p:nvSpPr>
        <p:spPr>
          <a:xfrm>
            <a:off x="314500" y="3031801"/>
            <a:ext cx="4133100" cy="228300"/>
          </a:xfrm>
          <a:prstGeom prst="rect">
            <a:avLst/>
          </a:prstGeom>
          <a:solidFill>
            <a:srgbClr val="142038"/>
          </a:solidFill>
          <a:ln cap="flat" cmpd="sng" w="12700">
            <a:solidFill>
              <a:srgbClr val="1420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p:nvPr/>
        </p:nvSpPr>
        <p:spPr>
          <a:xfrm>
            <a:off x="424228" y="3031801"/>
            <a:ext cx="3986700" cy="228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B8FB0"/>
              </a:buClr>
              <a:buSzPts val="800"/>
              <a:buFont typeface="Consolas"/>
              <a:buNone/>
            </a:pPr>
            <a:r>
              <a:rPr b="0" i="0" lang="en-US" sz="800" u="none" cap="none" strike="noStrike">
                <a:solidFill>
                  <a:srgbClr val="7B8FB0"/>
                </a:solidFill>
                <a:latin typeface="Consolas"/>
                <a:ea typeface="Consolas"/>
                <a:cs typeface="Consolas"/>
                <a:sym typeface="Consolas"/>
              </a:rPr>
              <a:t>prompt_function_anthropic  </a:t>
            </a:r>
            <a:endParaRPr b="0" i="0" sz="800" u="none" cap="none" strike="noStrike">
              <a:solidFill>
                <a:schemeClr val="dk1"/>
              </a:solidFill>
              <a:latin typeface="Calibri"/>
              <a:ea typeface="Calibri"/>
              <a:cs typeface="Calibri"/>
              <a:sym typeface="Calibri"/>
            </a:endParaRPr>
          </a:p>
        </p:txBody>
      </p:sp>
      <p:sp>
        <p:nvSpPr>
          <p:cNvPr id="245" name="Google Shape;245;p6"/>
          <p:cNvSpPr/>
          <p:nvPr/>
        </p:nvSpPr>
        <p:spPr>
          <a:xfrm>
            <a:off x="397157" y="3305708"/>
            <a:ext cx="3913500" cy="165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B7A99"/>
              </a:buClr>
              <a:buSzPts val="800"/>
              <a:buFont typeface="Consolas"/>
              <a:buNone/>
            </a:pPr>
            <a:r>
              <a:rPr lang="en-US" sz="800">
                <a:solidFill>
                  <a:srgbClr val="6B7A99"/>
                </a:solidFill>
                <a:latin typeface="Consolas"/>
                <a:ea typeface="Consolas"/>
                <a:cs typeface="Consolas"/>
                <a:sym typeface="Consolas"/>
              </a:rPr>
              <a:t># </a:t>
            </a:r>
            <a:r>
              <a:rPr b="0" i="0" lang="en-US" sz="800" u="none" cap="none" strike="noStrike">
                <a:solidFill>
                  <a:srgbClr val="6B7A99"/>
                </a:solidFill>
                <a:latin typeface="Consolas"/>
                <a:ea typeface="Consolas"/>
                <a:cs typeface="Consolas"/>
                <a:sym typeface="Consolas"/>
              </a:rPr>
              <a:t>inject context into a structured prompt string,</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B7A99"/>
                </a:solidFill>
                <a:latin typeface="Consolas"/>
                <a:ea typeface="Consolas"/>
                <a:cs typeface="Consolas"/>
                <a:sym typeface="Consolas"/>
              </a:rPr>
              <a:t># then call the LLM and parse the response.</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def </a:t>
            </a:r>
            <a:r>
              <a:rPr b="0" i="0" lang="en-US" sz="800" u="none" cap="none" strike="noStrike">
                <a:solidFill>
                  <a:srgbClr val="4ADE80"/>
                </a:solidFill>
                <a:latin typeface="Consolas"/>
                <a:ea typeface="Consolas"/>
                <a:cs typeface="Consolas"/>
                <a:sym typeface="Consolas"/>
              </a:rPr>
              <a:t>prompt_function_anthropic</a:t>
            </a:r>
            <a:r>
              <a:rPr b="0" i="0" lang="en-US" sz="800" u="none" cap="none" strike="noStrike">
                <a:solidFill>
                  <a:srgbClr val="E2E8F4"/>
                </a:solidFill>
                <a:latin typeface="Consolas"/>
                <a:ea typeface="Consolas"/>
                <a:cs typeface="Consolas"/>
                <a:sym typeface="Consolas"/>
              </a:rPr>
              <a:t>(self, prompt, key, model):</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client = _ant.Anthropic(api_key=key)  </a:t>
            </a:r>
            <a:r>
              <a:rPr b="0" i="0" lang="en-US" sz="800" u="none" cap="none" strike="noStrike">
                <a:solidFill>
                  <a:srgbClr val="6B7A99"/>
                </a:solidFill>
                <a:latin typeface="Consolas"/>
                <a:ea typeface="Consolas"/>
                <a:cs typeface="Consolas"/>
                <a:sym typeface="Consolas"/>
              </a:rPr>
              <a:t># sk-ant-...</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 = client.messages.create(</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model=model,  </a:t>
            </a:r>
            <a:r>
              <a:rPr b="0" i="0" lang="en-US" sz="800" u="none" cap="none" strike="noStrike">
                <a:solidFill>
                  <a:srgbClr val="6B7A99"/>
                </a:solidFill>
                <a:latin typeface="Consolas"/>
                <a:ea typeface="Consolas"/>
                <a:cs typeface="Consolas"/>
                <a:sym typeface="Consolas"/>
              </a:rPr>
              <a:t># e.g. 'claude-opus-4-5'</a:t>
            </a:r>
            <a:br>
              <a:rPr b="0" i="0" lang="en-US" sz="800" u="none" cap="none" strike="noStrike">
                <a:solidFill>
                  <a:srgbClr val="6B7A99"/>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max_tokens=</a:t>
            </a:r>
            <a:r>
              <a:rPr b="0" i="0" lang="en-US" sz="800" u="none" cap="none" strike="noStrike">
                <a:solidFill>
                  <a:srgbClr val="FCD34D"/>
                </a:solidFill>
                <a:latin typeface="Consolas"/>
                <a:ea typeface="Consolas"/>
                <a:cs typeface="Consolas"/>
                <a:sym typeface="Consolas"/>
              </a:rPr>
              <a:t>1024</a:t>
            </a:r>
            <a:r>
              <a:rPr b="0" i="0" lang="en-US" sz="800" u="none" cap="none" strike="noStrike">
                <a:solidFill>
                  <a:srgbClr val="E2E8F4"/>
                </a:solidFill>
                <a:latin typeface="Consolas"/>
                <a:ea typeface="Consolas"/>
                <a:cs typeface="Consolas"/>
                <a:sym typeface="Consolas"/>
              </a:rPr>
              <a: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messages=[{</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"role"</a:t>
            </a: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"user"</a:t>
            </a:r>
            <a:r>
              <a:rPr b="0" i="0" lang="en-US" sz="800" u="none" cap="none" strike="noStrike">
                <a:solidFill>
                  <a:srgbClr val="E2E8F4"/>
                </a:solidFill>
                <a:latin typeface="Consolas"/>
                <a:ea typeface="Consolas"/>
                <a:cs typeface="Consolas"/>
                <a:sym typeface="Consolas"/>
              </a:rPr>
              <a: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r>
              <a:rPr b="0" i="0" lang="en-US" sz="800" u="none" cap="none" strike="noStrike">
                <a:solidFill>
                  <a:srgbClr val="FCA5A5"/>
                </a:solidFill>
                <a:latin typeface="Consolas"/>
                <a:ea typeface="Consolas"/>
                <a:cs typeface="Consolas"/>
                <a:sym typeface="Consolas"/>
              </a:rPr>
              <a:t>"content"</a:t>
            </a:r>
            <a:r>
              <a:rPr b="0" i="0" lang="en-US" sz="800" u="none" cap="none" strike="noStrike">
                <a:solidFill>
                  <a:srgbClr val="E2E8F4"/>
                </a:solidFill>
                <a:latin typeface="Consolas"/>
                <a:ea typeface="Consolas"/>
                <a:cs typeface="Consolas"/>
                <a:sym typeface="Consolas"/>
              </a:rPr>
              <a:t>: prompt</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E2E8F4"/>
                </a:solidFill>
                <a:latin typeface="Consolas"/>
                <a:ea typeface="Consolas"/>
                <a:cs typeface="Consolas"/>
                <a:sym typeface="Consolas"/>
              </a:rPr>
              <a:t>    )</a:t>
            </a:r>
            <a:br>
              <a:rPr b="0" i="0" lang="en-US" sz="800" u="none" cap="none" strike="noStrike">
                <a:solidFill>
                  <a:srgbClr val="E2E8F4"/>
                </a:solidFill>
                <a:latin typeface="Consolas"/>
                <a:ea typeface="Consolas"/>
                <a:cs typeface="Consolas"/>
                <a:sym typeface="Consolas"/>
              </a:rPr>
            </a:br>
            <a:r>
              <a:rPr b="0" i="0" lang="en-US" sz="800" u="none" cap="none" strike="noStrike">
                <a:solidFill>
                  <a:srgbClr val="60A5FA"/>
                </a:solidFill>
                <a:latin typeface="Consolas"/>
                <a:ea typeface="Consolas"/>
                <a:cs typeface="Consolas"/>
                <a:sym typeface="Consolas"/>
              </a:rPr>
              <a:t>    return </a:t>
            </a:r>
            <a:r>
              <a:rPr b="0" i="0" lang="en-US" sz="800" u="none" cap="none" strike="noStrike">
                <a:solidFill>
                  <a:srgbClr val="E2E8F4"/>
                </a:solidFill>
                <a:latin typeface="Consolas"/>
                <a:ea typeface="Consolas"/>
                <a:cs typeface="Consolas"/>
                <a:sym typeface="Consolas"/>
              </a:rPr>
              <a:t>m.content[</a:t>
            </a:r>
            <a:r>
              <a:rPr b="0" i="0" lang="en-US" sz="800" u="none" cap="none" strike="noStrike">
                <a:solidFill>
                  <a:srgbClr val="FCD34D"/>
                </a:solidFill>
                <a:latin typeface="Consolas"/>
                <a:ea typeface="Consolas"/>
                <a:cs typeface="Consolas"/>
                <a:sym typeface="Consolas"/>
              </a:rPr>
              <a:t>0</a:t>
            </a:r>
            <a:r>
              <a:rPr b="0" i="0" lang="en-US" sz="800" u="none" cap="none" strike="noStrike">
                <a:solidFill>
                  <a:srgbClr val="E2E8F4"/>
                </a:solidFill>
                <a:latin typeface="Consolas"/>
                <a:ea typeface="Consolas"/>
                <a:cs typeface="Consolas"/>
                <a:sym typeface="Consolas"/>
              </a:rPr>
              <a:t>].text</a:t>
            </a:r>
            <a:br>
              <a:rPr b="0" i="0" lang="en-US" sz="800" u="none" cap="none" strike="noStrike">
                <a:solidFill>
                  <a:srgbClr val="E2E8F4"/>
                </a:solidFill>
                <a:latin typeface="Consolas"/>
                <a:ea typeface="Consolas"/>
                <a:cs typeface="Consolas"/>
                <a:sym typeface="Consolas"/>
              </a:rPr>
            </a:br>
            <a:endParaRPr b="0" i="0" sz="800" u="none" cap="none" strike="noStrike">
              <a:solidFill>
                <a:schemeClr val="dk1"/>
              </a:solidFill>
              <a:latin typeface="Calibri"/>
              <a:ea typeface="Calibri"/>
              <a:cs typeface="Calibri"/>
              <a:sym typeface="Calibri"/>
            </a:endParaRPr>
          </a:p>
        </p:txBody>
      </p:sp>
      <p:sp>
        <p:nvSpPr>
          <p:cNvPr id="246" name="Google Shape;246;p6"/>
          <p:cNvSpPr txBox="1"/>
          <p:nvPr/>
        </p:nvSpPr>
        <p:spPr>
          <a:xfrm>
            <a:off x="4698100" y="952248"/>
            <a:ext cx="4293000" cy="4004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200"/>
              <a:t>Prompt</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lang="en-US" sz="1200"/>
              <a:t>You are an expert HR talent analyst using a RAG-powered hiring system. You are given a job description and the most semantically relevant resume sections retrieved via cosine similarity (similarity score: {sim:.1f}%).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Analyze only the provided context. Do not use any outside information.</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Job Description: {jd} </a:t>
            </a:r>
            <a:endParaRPr sz="1200"/>
          </a:p>
          <a:p>
            <a:pPr indent="0" lvl="0" marL="0" rtl="0" algn="l">
              <a:spcBef>
                <a:spcPts val="0"/>
              </a:spcBef>
              <a:spcAft>
                <a:spcPts val="0"/>
              </a:spcAft>
              <a:buNone/>
            </a:pPr>
            <a:r>
              <a:rPr lang="en-US" sz="1200"/>
              <a:t>Candidate: {name} </a:t>
            </a:r>
            <a:endParaRPr sz="1200"/>
          </a:p>
          <a:p>
            <a:pPr indent="0" lvl="0" marL="0" rtl="0" algn="l">
              <a:spcBef>
                <a:spcPts val="0"/>
              </a:spcBef>
              <a:spcAft>
                <a:spcPts val="0"/>
              </a:spcAft>
              <a:buNone/>
            </a:pPr>
            <a:r>
              <a:rPr lang="en-US" sz="1200"/>
              <a:t>RAG-Retrieved Resume Context: {context}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US" sz="1200"/>
              <a:t>Respond </a:t>
            </a:r>
            <a:r>
              <a:rPr lang="en-US" sz="1200"/>
              <a:t>ONLY with a valid JSON object, no markdown, no backticks: {{ "score": &lt;integer 0-100&gt;, "strengths": "&lt;2-3 sentences about top strengths for this role&gt;", "weaknesses": "&lt;2-3 sentences about gaps or mismatches&gt;", "reasoning": "&lt;2-3 sentences explaining the score&gt;", "skill_match": ["skill1","skill2","skill3"], "skill_gaps": ["gap1","gap2"], "questions": ["Q1?","Q2?","Q3?"] }} </a:t>
            </a:r>
            <a:endParaRPr sz="1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7"/>
          <p:cNvSpPr/>
          <p:nvPr/>
        </p:nvSpPr>
        <p:spPr>
          <a:xfrm>
            <a:off x="0" y="0"/>
            <a:ext cx="9144000" cy="54864"/>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7"/>
          <p:cNvSpPr/>
          <p:nvPr/>
        </p:nvSpPr>
        <p:spPr>
          <a:xfrm>
            <a:off x="0" y="0"/>
            <a:ext cx="64008" cy="514350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7"/>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900"/>
              <a:buFont typeface="Calibri"/>
              <a:buNone/>
            </a:pPr>
            <a:r>
              <a:rPr b="1" i="0" lang="en-US" sz="900" u="none" cap="none" strike="noStrike">
                <a:solidFill>
                  <a:srgbClr val="16A34A"/>
                </a:solidFill>
                <a:latin typeface="Calibri"/>
                <a:ea typeface="Calibri"/>
                <a:cs typeface="Calibri"/>
                <a:sym typeface="Calibri"/>
              </a:rPr>
              <a:t>WHY IT'S BETTER</a:t>
            </a:r>
            <a:endParaRPr b="0" i="0" sz="900" u="none" cap="none" strike="noStrike">
              <a:solidFill>
                <a:schemeClr val="dk1"/>
              </a:solidFill>
              <a:latin typeface="Calibri"/>
              <a:ea typeface="Calibri"/>
              <a:cs typeface="Calibri"/>
              <a:sym typeface="Calibri"/>
            </a:endParaRPr>
          </a:p>
        </p:txBody>
      </p:sp>
      <p:sp>
        <p:nvSpPr>
          <p:cNvPr id="255" name="Google Shape;255;p7"/>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HireSense vs. Traditional ATS</a:t>
            </a:r>
            <a:endParaRPr b="0" i="0" sz="3000" u="none" cap="none" strike="noStrike">
              <a:solidFill>
                <a:schemeClr val="dk1"/>
              </a:solidFill>
              <a:latin typeface="Calibri"/>
              <a:ea typeface="Calibri"/>
              <a:cs typeface="Calibri"/>
              <a:sym typeface="Calibri"/>
            </a:endParaRPr>
          </a:p>
        </p:txBody>
      </p:sp>
      <p:sp>
        <p:nvSpPr>
          <p:cNvPr id="256" name="Google Shape;256;p7"/>
          <p:cNvSpPr/>
          <p:nvPr/>
        </p:nvSpPr>
        <p:spPr>
          <a:xfrm>
            <a:off x="292608" y="1207008"/>
            <a:ext cx="8558784" cy="384048"/>
          </a:xfrm>
          <a:prstGeom prst="rect">
            <a:avLst/>
          </a:prstGeom>
          <a:solidFill>
            <a:srgbClr val="0F1F3D"/>
          </a:solidFill>
          <a:ln cap="flat" cmpd="sng" w="12700">
            <a:solidFill>
              <a:srgbClr val="0F1F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7"/>
          <p:cNvSpPr/>
          <p:nvPr/>
        </p:nvSpPr>
        <p:spPr>
          <a:xfrm>
            <a:off x="384048" y="1207008"/>
            <a:ext cx="17373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DIMENSION</a:t>
            </a:r>
            <a:endParaRPr b="0" i="0" sz="950" u="none" cap="none" strike="noStrike">
              <a:solidFill>
                <a:schemeClr val="dk1"/>
              </a:solidFill>
              <a:latin typeface="Calibri"/>
              <a:ea typeface="Calibri"/>
              <a:cs typeface="Calibri"/>
              <a:sym typeface="Calibri"/>
            </a:endParaRPr>
          </a:p>
        </p:txBody>
      </p:sp>
      <p:sp>
        <p:nvSpPr>
          <p:cNvPr id="258" name="Google Shape;258;p7"/>
          <p:cNvSpPr/>
          <p:nvPr/>
        </p:nvSpPr>
        <p:spPr>
          <a:xfrm>
            <a:off x="2304288" y="1207008"/>
            <a:ext cx="3108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TRADITIONAL ATS</a:t>
            </a:r>
            <a:endParaRPr b="0" i="0" sz="950" u="none" cap="none" strike="noStrike">
              <a:solidFill>
                <a:schemeClr val="dk1"/>
              </a:solidFill>
              <a:latin typeface="Calibri"/>
              <a:ea typeface="Calibri"/>
              <a:cs typeface="Calibri"/>
              <a:sym typeface="Calibri"/>
            </a:endParaRPr>
          </a:p>
        </p:txBody>
      </p:sp>
      <p:sp>
        <p:nvSpPr>
          <p:cNvPr id="259" name="Google Shape;259;p7"/>
          <p:cNvSpPr/>
          <p:nvPr/>
        </p:nvSpPr>
        <p:spPr>
          <a:xfrm>
            <a:off x="5596128" y="1207008"/>
            <a:ext cx="3108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50"/>
              <a:buFont typeface="Calibri"/>
              <a:buNone/>
            </a:pPr>
            <a:r>
              <a:rPr b="1" i="0" lang="en-US" sz="950" u="none" cap="none" strike="noStrike">
                <a:solidFill>
                  <a:srgbClr val="FFFFFF"/>
                </a:solidFill>
                <a:latin typeface="Calibri"/>
                <a:ea typeface="Calibri"/>
                <a:cs typeface="Calibri"/>
                <a:sym typeface="Calibri"/>
              </a:rPr>
              <a:t>HIRESENSE AI</a:t>
            </a:r>
            <a:endParaRPr b="0" i="0" sz="950" u="none" cap="none" strike="noStrike">
              <a:solidFill>
                <a:schemeClr val="dk1"/>
              </a:solidFill>
              <a:latin typeface="Calibri"/>
              <a:ea typeface="Calibri"/>
              <a:cs typeface="Calibri"/>
              <a:sym typeface="Calibri"/>
            </a:endParaRPr>
          </a:p>
        </p:txBody>
      </p:sp>
      <p:sp>
        <p:nvSpPr>
          <p:cNvPr id="260" name="Google Shape;260;p7"/>
          <p:cNvSpPr/>
          <p:nvPr/>
        </p:nvSpPr>
        <p:spPr>
          <a:xfrm>
            <a:off x="292608" y="1618488"/>
            <a:ext cx="8558784" cy="502920"/>
          </a:xfrm>
          <a:prstGeom prst="rect">
            <a:avLst/>
          </a:prstGeom>
          <a:solidFill>
            <a:srgbClr val="F7F9FC"/>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p:nvPr/>
        </p:nvSpPr>
        <p:spPr>
          <a:xfrm>
            <a:off x="384048" y="1783080"/>
            <a:ext cx="128016" cy="128016"/>
          </a:xfrm>
          <a:prstGeom prst="ellipse">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7"/>
          <p:cNvSpPr/>
          <p:nvPr/>
        </p:nvSpPr>
        <p:spPr>
          <a:xfrm>
            <a:off x="566928" y="1618488"/>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Matching Method</a:t>
            </a:r>
            <a:endParaRPr b="0" i="0" sz="950" u="none" cap="none" strike="noStrike">
              <a:solidFill>
                <a:schemeClr val="dk1"/>
              </a:solidFill>
              <a:latin typeface="Calibri"/>
              <a:ea typeface="Calibri"/>
              <a:cs typeface="Calibri"/>
              <a:sym typeface="Calibri"/>
            </a:endParaRPr>
          </a:p>
        </p:txBody>
      </p:sp>
      <p:sp>
        <p:nvSpPr>
          <p:cNvPr id="263" name="Google Shape;263;p7"/>
          <p:cNvSpPr/>
          <p:nvPr/>
        </p:nvSpPr>
        <p:spPr>
          <a:xfrm>
            <a:off x="2304288" y="1618488"/>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64" name="Google Shape;264;p7"/>
          <p:cNvSpPr/>
          <p:nvPr/>
        </p:nvSpPr>
        <p:spPr>
          <a:xfrm>
            <a:off x="2542032" y="1618488"/>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lang="en-US" sz="950">
                <a:solidFill>
                  <a:srgbClr val="6B7A99"/>
                </a:solidFill>
                <a:latin typeface="Calibri"/>
                <a:ea typeface="Calibri"/>
                <a:cs typeface="Calibri"/>
                <a:sym typeface="Calibri"/>
              </a:rPr>
              <a:t>Keyword matching</a:t>
            </a:r>
            <a:endParaRPr b="0" i="0" sz="950" u="none" cap="none" strike="noStrike">
              <a:solidFill>
                <a:schemeClr val="dk1"/>
              </a:solidFill>
              <a:latin typeface="Calibri"/>
              <a:ea typeface="Calibri"/>
              <a:cs typeface="Calibri"/>
              <a:sym typeface="Calibri"/>
            </a:endParaRPr>
          </a:p>
        </p:txBody>
      </p:sp>
      <p:sp>
        <p:nvSpPr>
          <p:cNvPr id="265" name="Google Shape;265;p7"/>
          <p:cNvSpPr/>
          <p:nvPr/>
        </p:nvSpPr>
        <p:spPr>
          <a:xfrm>
            <a:off x="5596128" y="1618488"/>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66" name="Google Shape;266;p7"/>
          <p:cNvSpPr/>
          <p:nvPr/>
        </p:nvSpPr>
        <p:spPr>
          <a:xfrm>
            <a:off x="5815584" y="1618488"/>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0" i="0" lang="en-US" sz="950" u="none" cap="none" strike="noStrike">
                <a:solidFill>
                  <a:srgbClr val="0F1F3D"/>
                </a:solidFill>
                <a:latin typeface="Calibri"/>
                <a:ea typeface="Calibri"/>
                <a:cs typeface="Calibri"/>
                <a:sym typeface="Calibri"/>
              </a:rPr>
              <a:t>Semantic RAG + cosine similarity</a:t>
            </a:r>
            <a:endParaRPr b="0" i="0" sz="950" u="none" cap="none" strike="noStrike">
              <a:solidFill>
                <a:schemeClr val="dk1"/>
              </a:solidFill>
              <a:latin typeface="Calibri"/>
              <a:ea typeface="Calibri"/>
              <a:cs typeface="Calibri"/>
              <a:sym typeface="Calibri"/>
            </a:endParaRPr>
          </a:p>
        </p:txBody>
      </p:sp>
      <p:sp>
        <p:nvSpPr>
          <p:cNvPr id="267" name="Google Shape;267;p7"/>
          <p:cNvSpPr/>
          <p:nvPr/>
        </p:nvSpPr>
        <p:spPr>
          <a:xfrm>
            <a:off x="292608" y="2148840"/>
            <a:ext cx="8558784" cy="502920"/>
          </a:xfrm>
          <a:prstGeom prst="rect">
            <a:avLst/>
          </a:prstGeom>
          <a:solidFill>
            <a:srgbClr val="FFFFFF"/>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p:nvPr/>
        </p:nvSpPr>
        <p:spPr>
          <a:xfrm>
            <a:off x="384048" y="2313432"/>
            <a:ext cx="128016" cy="128016"/>
          </a:xfrm>
          <a:prstGeom prst="ellipse">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7"/>
          <p:cNvSpPr/>
          <p:nvPr/>
        </p:nvSpPr>
        <p:spPr>
          <a:xfrm>
            <a:off x="566928" y="2148840"/>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Transparency</a:t>
            </a:r>
            <a:endParaRPr b="0" i="0" sz="950" u="none" cap="none" strike="noStrike">
              <a:solidFill>
                <a:schemeClr val="dk1"/>
              </a:solidFill>
              <a:latin typeface="Calibri"/>
              <a:ea typeface="Calibri"/>
              <a:cs typeface="Calibri"/>
              <a:sym typeface="Calibri"/>
            </a:endParaRPr>
          </a:p>
        </p:txBody>
      </p:sp>
      <p:sp>
        <p:nvSpPr>
          <p:cNvPr id="270" name="Google Shape;270;p7"/>
          <p:cNvSpPr/>
          <p:nvPr/>
        </p:nvSpPr>
        <p:spPr>
          <a:xfrm>
            <a:off x="2304288" y="2148840"/>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71" name="Google Shape;271;p7"/>
          <p:cNvSpPr/>
          <p:nvPr/>
        </p:nvSpPr>
        <p:spPr>
          <a:xfrm>
            <a:off x="2542032" y="2148840"/>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b="0" i="0" lang="en-US" sz="950" u="none" cap="none" strike="noStrike">
                <a:solidFill>
                  <a:srgbClr val="6B7A99"/>
                </a:solidFill>
                <a:latin typeface="Calibri"/>
                <a:ea typeface="Calibri"/>
                <a:cs typeface="Calibri"/>
                <a:sym typeface="Calibri"/>
              </a:rPr>
              <a:t>Black-box ranking</a:t>
            </a:r>
            <a:endParaRPr b="0" i="0" sz="950" u="none" cap="none" strike="noStrike">
              <a:solidFill>
                <a:schemeClr val="dk1"/>
              </a:solidFill>
              <a:latin typeface="Calibri"/>
              <a:ea typeface="Calibri"/>
              <a:cs typeface="Calibri"/>
              <a:sym typeface="Calibri"/>
            </a:endParaRPr>
          </a:p>
        </p:txBody>
      </p:sp>
      <p:sp>
        <p:nvSpPr>
          <p:cNvPr id="272" name="Google Shape;272;p7"/>
          <p:cNvSpPr/>
          <p:nvPr/>
        </p:nvSpPr>
        <p:spPr>
          <a:xfrm>
            <a:off x="5596128" y="2148840"/>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73" name="Google Shape;273;p7"/>
          <p:cNvSpPr/>
          <p:nvPr/>
        </p:nvSpPr>
        <p:spPr>
          <a:xfrm>
            <a:off x="5815584" y="2148840"/>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lang="en-US" sz="950">
                <a:solidFill>
                  <a:srgbClr val="0F1F3D"/>
                </a:solidFill>
                <a:latin typeface="Calibri"/>
                <a:ea typeface="Calibri"/>
                <a:cs typeface="Calibri"/>
                <a:sym typeface="Calibri"/>
              </a:rPr>
              <a:t>Clear explanations</a:t>
            </a:r>
            <a:r>
              <a:rPr b="0" i="0" lang="en-US" sz="950" u="none" cap="none" strike="noStrike">
                <a:solidFill>
                  <a:srgbClr val="0F1F3D"/>
                </a:solidFill>
                <a:latin typeface="Calibri"/>
                <a:ea typeface="Calibri"/>
                <a:cs typeface="Calibri"/>
                <a:sym typeface="Calibri"/>
              </a:rPr>
              <a:t> + skill gap breakdown</a:t>
            </a:r>
            <a:endParaRPr b="0" i="0" sz="950" u="none" cap="none" strike="noStrike">
              <a:solidFill>
                <a:schemeClr val="dk1"/>
              </a:solidFill>
              <a:latin typeface="Calibri"/>
              <a:ea typeface="Calibri"/>
              <a:cs typeface="Calibri"/>
              <a:sym typeface="Calibri"/>
            </a:endParaRPr>
          </a:p>
        </p:txBody>
      </p:sp>
      <p:sp>
        <p:nvSpPr>
          <p:cNvPr id="274" name="Google Shape;274;p7"/>
          <p:cNvSpPr/>
          <p:nvPr/>
        </p:nvSpPr>
        <p:spPr>
          <a:xfrm>
            <a:off x="292608" y="2679192"/>
            <a:ext cx="8558784" cy="502920"/>
          </a:xfrm>
          <a:prstGeom prst="rect">
            <a:avLst/>
          </a:prstGeom>
          <a:solidFill>
            <a:srgbClr val="F7F9FC"/>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7"/>
          <p:cNvSpPr/>
          <p:nvPr/>
        </p:nvSpPr>
        <p:spPr>
          <a:xfrm>
            <a:off x="384048" y="2843784"/>
            <a:ext cx="128016" cy="128016"/>
          </a:xfrm>
          <a:prstGeom prst="ellipse">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p:nvPr/>
        </p:nvSpPr>
        <p:spPr>
          <a:xfrm>
            <a:off x="566928" y="2679192"/>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Interview Prep</a:t>
            </a:r>
            <a:endParaRPr b="0" i="0" sz="950" u="none" cap="none" strike="noStrike">
              <a:solidFill>
                <a:schemeClr val="dk1"/>
              </a:solidFill>
              <a:latin typeface="Calibri"/>
              <a:ea typeface="Calibri"/>
              <a:cs typeface="Calibri"/>
              <a:sym typeface="Calibri"/>
            </a:endParaRPr>
          </a:p>
        </p:txBody>
      </p:sp>
      <p:sp>
        <p:nvSpPr>
          <p:cNvPr id="277" name="Google Shape;277;p7"/>
          <p:cNvSpPr/>
          <p:nvPr/>
        </p:nvSpPr>
        <p:spPr>
          <a:xfrm>
            <a:off x="2304288" y="2679192"/>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78" name="Google Shape;278;p7"/>
          <p:cNvSpPr/>
          <p:nvPr/>
        </p:nvSpPr>
        <p:spPr>
          <a:xfrm>
            <a:off x="2542032" y="2679192"/>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b="0" i="0" lang="en-US" sz="950" u="none" cap="none" strike="noStrike">
                <a:solidFill>
                  <a:srgbClr val="6B7A99"/>
                </a:solidFill>
                <a:latin typeface="Calibri"/>
                <a:ea typeface="Calibri"/>
                <a:cs typeface="Calibri"/>
                <a:sym typeface="Calibri"/>
              </a:rPr>
              <a:t>Manual, hours of work</a:t>
            </a:r>
            <a:endParaRPr b="0" i="0" sz="950" u="none" cap="none" strike="noStrike">
              <a:solidFill>
                <a:schemeClr val="dk1"/>
              </a:solidFill>
              <a:latin typeface="Calibri"/>
              <a:ea typeface="Calibri"/>
              <a:cs typeface="Calibri"/>
              <a:sym typeface="Calibri"/>
            </a:endParaRPr>
          </a:p>
        </p:txBody>
      </p:sp>
      <p:sp>
        <p:nvSpPr>
          <p:cNvPr id="279" name="Google Shape;279;p7"/>
          <p:cNvSpPr/>
          <p:nvPr/>
        </p:nvSpPr>
        <p:spPr>
          <a:xfrm>
            <a:off x="5596128" y="2679192"/>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80" name="Google Shape;280;p7"/>
          <p:cNvSpPr/>
          <p:nvPr/>
        </p:nvSpPr>
        <p:spPr>
          <a:xfrm>
            <a:off x="5815584" y="2679192"/>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0" i="0" lang="en-US" sz="950" u="none" cap="none" strike="noStrike">
                <a:solidFill>
                  <a:srgbClr val="0F1F3D"/>
                </a:solidFill>
                <a:latin typeface="Calibri"/>
                <a:ea typeface="Calibri"/>
                <a:cs typeface="Calibri"/>
                <a:sym typeface="Calibri"/>
              </a:rPr>
              <a:t>Auto</a:t>
            </a:r>
            <a:r>
              <a:rPr b="0" i="0" lang="en-US" sz="950" u="none" cap="none" strike="noStrike">
                <a:solidFill>
                  <a:srgbClr val="0F1F3D"/>
                </a:solidFill>
                <a:latin typeface="Calibri"/>
                <a:ea typeface="Calibri"/>
                <a:cs typeface="Calibri"/>
                <a:sym typeface="Calibri"/>
              </a:rPr>
              <a:t>-generated tailored questions</a:t>
            </a:r>
            <a:endParaRPr b="0" i="0" sz="950" u="none" cap="none" strike="noStrike">
              <a:solidFill>
                <a:schemeClr val="dk1"/>
              </a:solidFill>
              <a:latin typeface="Calibri"/>
              <a:ea typeface="Calibri"/>
              <a:cs typeface="Calibri"/>
              <a:sym typeface="Calibri"/>
            </a:endParaRPr>
          </a:p>
        </p:txBody>
      </p:sp>
      <p:sp>
        <p:nvSpPr>
          <p:cNvPr id="281" name="Google Shape;281;p7"/>
          <p:cNvSpPr/>
          <p:nvPr/>
        </p:nvSpPr>
        <p:spPr>
          <a:xfrm>
            <a:off x="292608" y="3209544"/>
            <a:ext cx="8558784" cy="502920"/>
          </a:xfrm>
          <a:prstGeom prst="rect">
            <a:avLst/>
          </a:prstGeom>
          <a:solidFill>
            <a:srgbClr val="FFFFFF"/>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7"/>
          <p:cNvSpPr/>
          <p:nvPr/>
        </p:nvSpPr>
        <p:spPr>
          <a:xfrm>
            <a:off x="384048" y="3374136"/>
            <a:ext cx="128016" cy="128016"/>
          </a:xfrm>
          <a:prstGeom prst="ellipse">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p:nvPr/>
        </p:nvSpPr>
        <p:spPr>
          <a:xfrm>
            <a:off x="566928" y="3209544"/>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Missed Talent</a:t>
            </a:r>
            <a:endParaRPr b="0" i="0" sz="950" u="none" cap="none" strike="noStrike">
              <a:solidFill>
                <a:schemeClr val="dk1"/>
              </a:solidFill>
              <a:latin typeface="Calibri"/>
              <a:ea typeface="Calibri"/>
              <a:cs typeface="Calibri"/>
              <a:sym typeface="Calibri"/>
            </a:endParaRPr>
          </a:p>
        </p:txBody>
      </p:sp>
      <p:sp>
        <p:nvSpPr>
          <p:cNvPr id="284" name="Google Shape;284;p7"/>
          <p:cNvSpPr/>
          <p:nvPr/>
        </p:nvSpPr>
        <p:spPr>
          <a:xfrm>
            <a:off x="2304288" y="3209544"/>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85" name="Google Shape;285;p7"/>
          <p:cNvSpPr/>
          <p:nvPr/>
        </p:nvSpPr>
        <p:spPr>
          <a:xfrm>
            <a:off x="2542032" y="3209544"/>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b="0" i="0" lang="en-US" sz="950" u="none" cap="none" strike="noStrike">
                <a:solidFill>
                  <a:srgbClr val="6B7A99"/>
                </a:solidFill>
                <a:latin typeface="Calibri"/>
                <a:ea typeface="Calibri"/>
                <a:cs typeface="Calibri"/>
                <a:sym typeface="Calibri"/>
              </a:rPr>
              <a:t>75% filtered unfairly</a:t>
            </a:r>
            <a:endParaRPr b="0" i="0" sz="950" u="none" cap="none" strike="noStrike">
              <a:solidFill>
                <a:schemeClr val="dk1"/>
              </a:solidFill>
              <a:latin typeface="Calibri"/>
              <a:ea typeface="Calibri"/>
              <a:cs typeface="Calibri"/>
              <a:sym typeface="Calibri"/>
            </a:endParaRPr>
          </a:p>
        </p:txBody>
      </p:sp>
      <p:sp>
        <p:nvSpPr>
          <p:cNvPr id="286" name="Google Shape;286;p7"/>
          <p:cNvSpPr/>
          <p:nvPr/>
        </p:nvSpPr>
        <p:spPr>
          <a:xfrm>
            <a:off x="5596128" y="3209544"/>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87" name="Google Shape;287;p7"/>
          <p:cNvSpPr/>
          <p:nvPr/>
        </p:nvSpPr>
        <p:spPr>
          <a:xfrm>
            <a:off x="5815584" y="3209544"/>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0" i="0" lang="en-US" sz="950" u="none" cap="none" strike="noStrike">
                <a:solidFill>
                  <a:srgbClr val="0F1F3D"/>
                </a:solidFill>
                <a:latin typeface="Calibri"/>
                <a:ea typeface="Calibri"/>
                <a:cs typeface="Calibri"/>
                <a:sym typeface="Calibri"/>
              </a:rPr>
              <a:t>Meaning-based — no wording bias</a:t>
            </a:r>
            <a:endParaRPr b="0" i="0" sz="950" u="none" cap="none" strike="noStrike">
              <a:solidFill>
                <a:schemeClr val="dk1"/>
              </a:solidFill>
              <a:latin typeface="Calibri"/>
              <a:ea typeface="Calibri"/>
              <a:cs typeface="Calibri"/>
              <a:sym typeface="Calibri"/>
            </a:endParaRPr>
          </a:p>
        </p:txBody>
      </p:sp>
      <p:sp>
        <p:nvSpPr>
          <p:cNvPr id="288" name="Google Shape;288;p7"/>
          <p:cNvSpPr/>
          <p:nvPr/>
        </p:nvSpPr>
        <p:spPr>
          <a:xfrm>
            <a:off x="292608" y="3739896"/>
            <a:ext cx="8558784" cy="502920"/>
          </a:xfrm>
          <a:prstGeom prst="rect">
            <a:avLst/>
          </a:prstGeom>
          <a:solidFill>
            <a:srgbClr val="F7F9FC"/>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p:nvPr/>
        </p:nvSpPr>
        <p:spPr>
          <a:xfrm>
            <a:off x="384048" y="3904488"/>
            <a:ext cx="128016" cy="128016"/>
          </a:xfrm>
          <a:prstGeom prst="ellipse">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7"/>
          <p:cNvSpPr/>
          <p:nvPr/>
        </p:nvSpPr>
        <p:spPr>
          <a:xfrm>
            <a:off x="566928" y="3739896"/>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LLM Support</a:t>
            </a:r>
            <a:endParaRPr b="0" i="0" sz="950" u="none" cap="none" strike="noStrike">
              <a:solidFill>
                <a:schemeClr val="dk1"/>
              </a:solidFill>
              <a:latin typeface="Calibri"/>
              <a:ea typeface="Calibri"/>
              <a:cs typeface="Calibri"/>
              <a:sym typeface="Calibri"/>
            </a:endParaRPr>
          </a:p>
        </p:txBody>
      </p:sp>
      <p:sp>
        <p:nvSpPr>
          <p:cNvPr id="291" name="Google Shape;291;p7"/>
          <p:cNvSpPr/>
          <p:nvPr/>
        </p:nvSpPr>
        <p:spPr>
          <a:xfrm>
            <a:off x="2304288" y="3739896"/>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92" name="Google Shape;292;p7"/>
          <p:cNvSpPr/>
          <p:nvPr/>
        </p:nvSpPr>
        <p:spPr>
          <a:xfrm>
            <a:off x="2542032" y="3739896"/>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b="0" i="0" lang="en-US" sz="950" u="none" cap="none" strike="noStrike">
                <a:solidFill>
                  <a:srgbClr val="6B7A99"/>
                </a:solidFill>
                <a:latin typeface="Calibri"/>
                <a:ea typeface="Calibri"/>
                <a:cs typeface="Calibri"/>
                <a:sym typeface="Calibri"/>
              </a:rPr>
              <a:t>None</a:t>
            </a:r>
            <a:endParaRPr b="0" i="0" sz="950" u="none" cap="none" strike="noStrike">
              <a:solidFill>
                <a:schemeClr val="dk1"/>
              </a:solidFill>
              <a:latin typeface="Calibri"/>
              <a:ea typeface="Calibri"/>
              <a:cs typeface="Calibri"/>
              <a:sym typeface="Calibri"/>
            </a:endParaRPr>
          </a:p>
        </p:txBody>
      </p:sp>
      <p:sp>
        <p:nvSpPr>
          <p:cNvPr id="293" name="Google Shape;293;p7"/>
          <p:cNvSpPr/>
          <p:nvPr/>
        </p:nvSpPr>
        <p:spPr>
          <a:xfrm>
            <a:off x="5596128" y="3739896"/>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94" name="Google Shape;294;p7"/>
          <p:cNvSpPr/>
          <p:nvPr/>
        </p:nvSpPr>
        <p:spPr>
          <a:xfrm>
            <a:off x="5815584" y="3739896"/>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0" i="0" lang="en-US" sz="950" u="none" cap="none" strike="noStrike">
                <a:solidFill>
                  <a:srgbClr val="0F1F3D"/>
                </a:solidFill>
                <a:latin typeface="Calibri"/>
                <a:ea typeface="Calibri"/>
                <a:cs typeface="Calibri"/>
                <a:sym typeface="Calibri"/>
              </a:rPr>
              <a:t>ChatGPT + Claude, side-by-side compare</a:t>
            </a:r>
            <a:endParaRPr b="0" i="0" sz="950" u="none" cap="none" strike="noStrike">
              <a:solidFill>
                <a:schemeClr val="dk1"/>
              </a:solidFill>
              <a:latin typeface="Calibri"/>
              <a:ea typeface="Calibri"/>
              <a:cs typeface="Calibri"/>
              <a:sym typeface="Calibri"/>
            </a:endParaRPr>
          </a:p>
        </p:txBody>
      </p:sp>
      <p:sp>
        <p:nvSpPr>
          <p:cNvPr id="295" name="Google Shape;295;p7"/>
          <p:cNvSpPr/>
          <p:nvPr/>
        </p:nvSpPr>
        <p:spPr>
          <a:xfrm>
            <a:off x="292608" y="4270248"/>
            <a:ext cx="8558784" cy="502920"/>
          </a:xfrm>
          <a:prstGeom prst="rect">
            <a:avLst/>
          </a:prstGeom>
          <a:solidFill>
            <a:srgbClr val="FFFFFF"/>
          </a:solidFill>
          <a:ln cap="flat" cmpd="sng" w="9525">
            <a:solidFill>
              <a:srgbClr val="DDE3E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7"/>
          <p:cNvSpPr/>
          <p:nvPr/>
        </p:nvSpPr>
        <p:spPr>
          <a:xfrm>
            <a:off x="384048" y="4434840"/>
            <a:ext cx="128016" cy="128016"/>
          </a:xfrm>
          <a:prstGeom prst="ellipse">
            <a:avLst/>
          </a:prstGeom>
          <a:solidFill>
            <a:srgbClr val="DC2626"/>
          </a:solidFill>
          <a:ln cap="flat" cmpd="sng" w="12700">
            <a:solidFill>
              <a:srgbClr val="DC262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7"/>
          <p:cNvSpPr/>
          <p:nvPr/>
        </p:nvSpPr>
        <p:spPr>
          <a:xfrm>
            <a:off x="566928" y="4270248"/>
            <a:ext cx="162763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1" i="0" lang="en-US" sz="950" u="none" cap="none" strike="noStrike">
                <a:solidFill>
                  <a:srgbClr val="0F1F3D"/>
                </a:solidFill>
                <a:latin typeface="Calibri"/>
                <a:ea typeface="Calibri"/>
                <a:cs typeface="Calibri"/>
                <a:sym typeface="Calibri"/>
              </a:rPr>
              <a:t>Resume Input</a:t>
            </a:r>
            <a:endParaRPr b="0" i="0" sz="950" u="none" cap="none" strike="noStrike">
              <a:solidFill>
                <a:schemeClr val="dk1"/>
              </a:solidFill>
              <a:latin typeface="Calibri"/>
              <a:ea typeface="Calibri"/>
              <a:cs typeface="Calibri"/>
              <a:sym typeface="Calibri"/>
            </a:endParaRPr>
          </a:p>
        </p:txBody>
      </p:sp>
      <p:sp>
        <p:nvSpPr>
          <p:cNvPr id="298" name="Google Shape;298;p7"/>
          <p:cNvSpPr/>
          <p:nvPr/>
        </p:nvSpPr>
        <p:spPr>
          <a:xfrm>
            <a:off x="2304288" y="4270248"/>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2626"/>
              </a:buClr>
              <a:buSzPts val="1200"/>
              <a:buFont typeface="Calibri"/>
              <a:buNone/>
            </a:pPr>
            <a:r>
              <a:rPr b="1" i="0" lang="en-US" sz="1200" u="none" cap="none" strike="noStrike">
                <a:solidFill>
                  <a:srgbClr val="DC262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299" name="Google Shape;299;p7"/>
          <p:cNvSpPr/>
          <p:nvPr/>
        </p:nvSpPr>
        <p:spPr>
          <a:xfrm>
            <a:off x="2542032" y="4270248"/>
            <a:ext cx="28346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50"/>
              <a:buFont typeface="Calibri"/>
              <a:buNone/>
            </a:pPr>
            <a:r>
              <a:rPr b="0" i="0" lang="en-US" sz="950" u="none" cap="none" strike="noStrike">
                <a:solidFill>
                  <a:srgbClr val="6B7A99"/>
                </a:solidFill>
                <a:latin typeface="Calibri"/>
                <a:ea typeface="Calibri"/>
                <a:cs typeface="Calibri"/>
                <a:sym typeface="Calibri"/>
              </a:rPr>
              <a:t>Text form only</a:t>
            </a:r>
            <a:endParaRPr b="0" i="0" sz="950" u="none" cap="none" strike="noStrike">
              <a:solidFill>
                <a:schemeClr val="dk1"/>
              </a:solidFill>
              <a:latin typeface="Calibri"/>
              <a:ea typeface="Calibri"/>
              <a:cs typeface="Calibri"/>
              <a:sym typeface="Calibri"/>
            </a:endParaRPr>
          </a:p>
        </p:txBody>
      </p:sp>
      <p:sp>
        <p:nvSpPr>
          <p:cNvPr id="300" name="Google Shape;300;p7"/>
          <p:cNvSpPr/>
          <p:nvPr/>
        </p:nvSpPr>
        <p:spPr>
          <a:xfrm>
            <a:off x="5596128" y="4270248"/>
            <a:ext cx="201168"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301" name="Google Shape;301;p7"/>
          <p:cNvSpPr/>
          <p:nvPr/>
        </p:nvSpPr>
        <p:spPr>
          <a:xfrm>
            <a:off x="5815584" y="4270248"/>
            <a:ext cx="292608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950"/>
              <a:buFont typeface="Calibri"/>
              <a:buNone/>
            </a:pPr>
            <a:r>
              <a:rPr b="0" i="0" lang="en-US" sz="950" u="none" cap="none" strike="noStrike">
                <a:solidFill>
                  <a:srgbClr val="0F1F3D"/>
                </a:solidFill>
                <a:latin typeface="Calibri"/>
                <a:ea typeface="Calibri"/>
                <a:cs typeface="Calibri"/>
                <a:sym typeface="Calibri"/>
              </a:rPr>
              <a:t>PDF upload + URL job description fetch</a:t>
            </a:r>
            <a:endParaRPr b="0" i="0" sz="9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6" name="Shape 306"/>
        <p:cNvGrpSpPr/>
        <p:nvPr/>
      </p:nvGrpSpPr>
      <p:grpSpPr>
        <a:xfrm>
          <a:off x="0" y="0"/>
          <a:ext cx="0" cy="0"/>
          <a:chOff x="0" y="0"/>
          <a:chExt cx="0" cy="0"/>
        </a:xfrm>
      </p:grpSpPr>
      <p:sp>
        <p:nvSpPr>
          <p:cNvPr id="307" name="Google Shape;307;p8"/>
          <p:cNvSpPr/>
          <p:nvPr/>
        </p:nvSpPr>
        <p:spPr>
          <a:xfrm>
            <a:off x="0" y="0"/>
            <a:ext cx="9144000" cy="54864"/>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p:nvPr/>
        </p:nvSpPr>
        <p:spPr>
          <a:xfrm>
            <a:off x="0" y="0"/>
            <a:ext cx="64008" cy="51435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8"/>
          <p:cNvSpPr/>
          <p:nvPr/>
        </p:nvSpPr>
        <p:spPr>
          <a:xfrm>
            <a:off x="292608" y="182880"/>
            <a:ext cx="548640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900"/>
              <a:buFont typeface="Calibri"/>
              <a:buNone/>
            </a:pPr>
            <a:r>
              <a:rPr b="1" i="0" lang="en-US" sz="900" u="none" cap="none" strike="noStrike">
                <a:solidFill>
                  <a:srgbClr val="D97706"/>
                </a:solidFill>
                <a:latin typeface="Calibri"/>
                <a:ea typeface="Calibri"/>
                <a:cs typeface="Calibri"/>
                <a:sym typeface="Calibri"/>
              </a:rPr>
              <a:t>LIVE RESULTS</a:t>
            </a:r>
            <a:endParaRPr b="0" i="0" sz="900" u="none" cap="none" strike="noStrike">
              <a:solidFill>
                <a:schemeClr val="dk1"/>
              </a:solidFill>
              <a:latin typeface="Calibri"/>
              <a:ea typeface="Calibri"/>
              <a:cs typeface="Calibri"/>
              <a:sym typeface="Calibri"/>
            </a:endParaRPr>
          </a:p>
        </p:txBody>
      </p:sp>
      <p:sp>
        <p:nvSpPr>
          <p:cNvPr id="310" name="Google Shape;310;p8"/>
          <p:cNvSpPr/>
          <p:nvPr/>
        </p:nvSpPr>
        <p:spPr>
          <a:xfrm>
            <a:off x="292608" y="457200"/>
            <a:ext cx="85953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3000"/>
              <a:buFont typeface="Calibri"/>
              <a:buNone/>
            </a:pPr>
            <a:r>
              <a:rPr b="1" i="0" lang="en-US" sz="3000" u="none" cap="none" strike="noStrike">
                <a:solidFill>
                  <a:srgbClr val="0F1F3D"/>
                </a:solidFill>
                <a:latin typeface="Calibri"/>
                <a:ea typeface="Calibri"/>
                <a:cs typeface="Calibri"/>
                <a:sym typeface="Calibri"/>
              </a:rPr>
              <a:t>Sample Analysis Output</a:t>
            </a:r>
            <a:endParaRPr b="0" i="0" sz="3000" u="none" cap="none" strike="noStrike">
              <a:solidFill>
                <a:schemeClr val="dk1"/>
              </a:solidFill>
              <a:latin typeface="Calibri"/>
              <a:ea typeface="Calibri"/>
              <a:cs typeface="Calibri"/>
              <a:sym typeface="Calibri"/>
            </a:endParaRPr>
          </a:p>
        </p:txBody>
      </p:sp>
      <p:graphicFrame>
        <p:nvGraphicFramePr>
          <p:cNvPr id="311" name="Google Shape;311;p8"/>
          <p:cNvGraphicFramePr/>
          <p:nvPr/>
        </p:nvGraphicFramePr>
        <p:xfrm>
          <a:off x="292608" y="1115568"/>
          <a:ext cx="5230368" cy="3547872"/>
        </p:xfrm>
        <a:graphic>
          <a:graphicData uri="http://schemas.openxmlformats.org/drawingml/2006/chart">
            <c:chart r:id="rId3"/>
          </a:graphicData>
        </a:graphic>
      </p:graphicFrame>
      <p:sp>
        <p:nvSpPr>
          <p:cNvPr id="312" name="Google Shape;312;p8"/>
          <p:cNvSpPr/>
          <p:nvPr/>
        </p:nvSpPr>
        <p:spPr>
          <a:xfrm>
            <a:off x="5779008" y="1115568"/>
            <a:ext cx="3090672" cy="3547872"/>
          </a:xfrm>
          <a:prstGeom prst="rect">
            <a:avLst/>
          </a:prstGeom>
          <a:solidFill>
            <a:srgbClr val="FFFFFF"/>
          </a:solidFill>
          <a:ln cap="flat" cmpd="sng" w="15225">
            <a:solidFill>
              <a:srgbClr val="16A34A"/>
            </a:solidFill>
            <a:prstDash val="solid"/>
            <a:round/>
            <a:headEnd len="sm" w="sm" type="none"/>
            <a:tailEnd len="sm" w="sm" type="none"/>
          </a:ln>
          <a:effectLst>
            <a:outerShdw blurRad="76200" rotWithShape="0" algn="bl" dir="8100000" dist="25400">
              <a:srgbClr val="1B2A4A">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8"/>
          <p:cNvSpPr/>
          <p:nvPr/>
        </p:nvSpPr>
        <p:spPr>
          <a:xfrm>
            <a:off x="5779008" y="1115568"/>
            <a:ext cx="3090672" cy="4572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p:nvPr/>
        </p:nvSpPr>
        <p:spPr>
          <a:xfrm>
            <a:off x="5897880" y="1188720"/>
            <a:ext cx="2871216"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1F3D"/>
              </a:buClr>
              <a:buSzPts val="1200"/>
              <a:buFont typeface="Calibri"/>
              <a:buNone/>
            </a:pPr>
            <a:r>
              <a:rPr b="1" i="0" lang="en-US" sz="1200" u="none" cap="none" strike="noStrike">
                <a:solidFill>
                  <a:srgbClr val="0F1F3D"/>
                </a:solidFill>
                <a:latin typeface="Calibri"/>
                <a:ea typeface="Calibri"/>
                <a:cs typeface="Calibri"/>
                <a:sym typeface="Calibri"/>
              </a:rPr>
              <a:t>#1 — Aisha Khan</a:t>
            </a:r>
            <a:endParaRPr b="0" i="0" sz="1200" u="none" cap="none" strike="noStrike">
              <a:solidFill>
                <a:schemeClr val="dk1"/>
              </a:solidFill>
              <a:latin typeface="Calibri"/>
              <a:ea typeface="Calibri"/>
              <a:cs typeface="Calibri"/>
              <a:sym typeface="Calibri"/>
            </a:endParaRPr>
          </a:p>
        </p:txBody>
      </p:sp>
      <p:sp>
        <p:nvSpPr>
          <p:cNvPr id="315" name="Google Shape;315;p8"/>
          <p:cNvSpPr/>
          <p:nvPr/>
        </p:nvSpPr>
        <p:spPr>
          <a:xfrm>
            <a:off x="5897880" y="1508760"/>
            <a:ext cx="2871216"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900"/>
              <a:buFont typeface="Calibri"/>
              <a:buNone/>
            </a:pPr>
            <a:r>
              <a:rPr b="0" i="0" lang="en-US" sz="900" u="none" cap="none" strike="noStrike">
                <a:solidFill>
                  <a:srgbClr val="6B7A99"/>
                </a:solidFill>
                <a:latin typeface="Calibri"/>
                <a:ea typeface="Calibri"/>
                <a:cs typeface="Calibri"/>
                <a:sym typeface="Calibri"/>
              </a:rPr>
              <a:t>ML Engineer · 6 yrs exp · 89% similarity</a:t>
            </a:r>
            <a:endParaRPr b="0" i="0" sz="900" u="none" cap="none" strike="noStrike">
              <a:solidFill>
                <a:schemeClr val="dk1"/>
              </a:solidFill>
              <a:latin typeface="Calibri"/>
              <a:ea typeface="Calibri"/>
              <a:cs typeface="Calibri"/>
              <a:sym typeface="Calibri"/>
            </a:endParaRPr>
          </a:p>
        </p:txBody>
      </p:sp>
      <p:sp>
        <p:nvSpPr>
          <p:cNvPr id="316" name="Google Shape;316;p8"/>
          <p:cNvSpPr/>
          <p:nvPr/>
        </p:nvSpPr>
        <p:spPr>
          <a:xfrm>
            <a:off x="5897880" y="1783080"/>
            <a:ext cx="914400"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4400"/>
              <a:buFont typeface="Calibri"/>
              <a:buNone/>
            </a:pPr>
            <a:r>
              <a:rPr b="1" i="0" lang="en-US" sz="4400" u="none" cap="none" strike="noStrike">
                <a:solidFill>
                  <a:srgbClr val="16A34A"/>
                </a:solidFill>
                <a:latin typeface="Calibri"/>
                <a:ea typeface="Calibri"/>
                <a:cs typeface="Calibri"/>
                <a:sym typeface="Calibri"/>
              </a:rPr>
              <a:t>91</a:t>
            </a:r>
            <a:endParaRPr b="0" i="0" sz="4400" u="none" cap="none" strike="noStrike">
              <a:solidFill>
                <a:schemeClr val="dk1"/>
              </a:solidFill>
              <a:latin typeface="Calibri"/>
              <a:ea typeface="Calibri"/>
              <a:cs typeface="Calibri"/>
              <a:sym typeface="Calibri"/>
            </a:endParaRPr>
          </a:p>
        </p:txBody>
      </p:sp>
      <p:sp>
        <p:nvSpPr>
          <p:cNvPr id="317" name="Google Shape;317;p8"/>
          <p:cNvSpPr/>
          <p:nvPr/>
        </p:nvSpPr>
        <p:spPr>
          <a:xfrm>
            <a:off x="6766560" y="2148840"/>
            <a:ext cx="82296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1200"/>
              <a:buFont typeface="Calibri"/>
              <a:buNone/>
            </a:pPr>
            <a:r>
              <a:rPr b="0" i="0" lang="en-US" sz="1200" u="none" cap="none" strike="noStrike">
                <a:solidFill>
                  <a:srgbClr val="6B7A99"/>
                </a:solidFill>
                <a:latin typeface="Calibri"/>
                <a:ea typeface="Calibri"/>
                <a:cs typeface="Calibri"/>
                <a:sym typeface="Calibri"/>
              </a:rPr>
              <a:t>/ 100</a:t>
            </a:r>
            <a:endParaRPr b="0" i="0" sz="1200" u="none" cap="none" strike="noStrike">
              <a:solidFill>
                <a:schemeClr val="dk1"/>
              </a:solidFill>
              <a:latin typeface="Calibri"/>
              <a:ea typeface="Calibri"/>
              <a:cs typeface="Calibri"/>
              <a:sym typeface="Calibri"/>
            </a:endParaRPr>
          </a:p>
        </p:txBody>
      </p:sp>
      <p:sp>
        <p:nvSpPr>
          <p:cNvPr id="318" name="Google Shape;318;p8"/>
          <p:cNvSpPr/>
          <p:nvPr/>
        </p:nvSpPr>
        <p:spPr>
          <a:xfrm>
            <a:off x="5897880" y="2560320"/>
            <a:ext cx="2816352" cy="91440"/>
          </a:xfrm>
          <a:prstGeom prst="rect">
            <a:avLst/>
          </a:prstGeom>
          <a:solidFill>
            <a:srgbClr val="E5E7EB"/>
          </a:solidFill>
          <a:ln cap="flat" cmpd="sng" w="12700">
            <a:solidFill>
              <a:srgbClr val="E5E7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8"/>
          <p:cNvSpPr/>
          <p:nvPr/>
        </p:nvSpPr>
        <p:spPr>
          <a:xfrm>
            <a:off x="5897880" y="2560320"/>
            <a:ext cx="2560320" cy="91440"/>
          </a:xfrm>
          <a:prstGeom prst="rect">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p:nvPr/>
        </p:nvSpPr>
        <p:spPr>
          <a:xfrm>
            <a:off x="5897880" y="2779776"/>
            <a:ext cx="281635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800"/>
              <a:buFont typeface="Calibri"/>
              <a:buNone/>
            </a:pPr>
            <a:r>
              <a:rPr b="1" i="0" lang="en-US" sz="800" u="none" cap="none" strike="noStrike">
                <a:solidFill>
                  <a:srgbClr val="6B7A99"/>
                </a:solidFill>
                <a:latin typeface="Calibri"/>
                <a:ea typeface="Calibri"/>
                <a:cs typeface="Calibri"/>
                <a:sym typeface="Calibri"/>
              </a:rPr>
              <a:t>STRENGTHS</a:t>
            </a:r>
            <a:endParaRPr b="0" i="0" sz="800" u="none" cap="none" strike="noStrike">
              <a:solidFill>
                <a:schemeClr val="dk1"/>
              </a:solidFill>
              <a:latin typeface="Calibri"/>
              <a:ea typeface="Calibri"/>
              <a:cs typeface="Calibri"/>
              <a:sym typeface="Calibri"/>
            </a:endParaRPr>
          </a:p>
        </p:txBody>
      </p:sp>
      <p:sp>
        <p:nvSpPr>
          <p:cNvPr id="321" name="Google Shape;321;p8"/>
          <p:cNvSpPr/>
          <p:nvPr/>
        </p:nvSpPr>
        <p:spPr>
          <a:xfrm>
            <a:off x="5897880" y="2980944"/>
            <a:ext cx="2816352"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900"/>
              <a:buFont typeface="Calibri"/>
              <a:buNone/>
            </a:pPr>
            <a:r>
              <a:rPr b="0" i="0" lang="en-US" sz="900" u="none" cap="none" strike="noStrike">
                <a:solidFill>
                  <a:srgbClr val="374151"/>
                </a:solidFill>
                <a:latin typeface="Calibri"/>
                <a:ea typeface="Calibri"/>
                <a:cs typeface="Calibri"/>
                <a:sym typeface="Calibri"/>
              </a:rPr>
              <a:t>Production RAG/LLM expertise, MLOps, team leadership, published NLP researcher.</a:t>
            </a:r>
            <a:endParaRPr b="0" i="0" sz="900" u="none" cap="none" strike="noStrike">
              <a:solidFill>
                <a:schemeClr val="dk1"/>
              </a:solidFill>
              <a:latin typeface="Calibri"/>
              <a:ea typeface="Calibri"/>
              <a:cs typeface="Calibri"/>
              <a:sym typeface="Calibri"/>
            </a:endParaRPr>
          </a:p>
        </p:txBody>
      </p:sp>
      <p:sp>
        <p:nvSpPr>
          <p:cNvPr id="322" name="Google Shape;322;p8"/>
          <p:cNvSpPr/>
          <p:nvPr/>
        </p:nvSpPr>
        <p:spPr>
          <a:xfrm>
            <a:off x="5897880" y="3511296"/>
            <a:ext cx="2816352"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9"/>
              </a:buClr>
              <a:buSzPts val="800"/>
              <a:buFont typeface="Calibri"/>
              <a:buNone/>
            </a:pPr>
            <a:r>
              <a:rPr b="1" i="0" lang="en-US" sz="800" u="none" cap="none" strike="noStrike">
                <a:solidFill>
                  <a:srgbClr val="6B7A99"/>
                </a:solidFill>
                <a:latin typeface="Calibri"/>
                <a:ea typeface="Calibri"/>
                <a:cs typeface="Calibri"/>
                <a:sym typeface="Calibri"/>
              </a:rPr>
              <a:t>SKILL MATCH</a:t>
            </a:r>
            <a:endParaRPr b="0" i="0" sz="800" u="none" cap="none" strike="noStrike">
              <a:solidFill>
                <a:schemeClr val="dk1"/>
              </a:solidFill>
              <a:latin typeface="Calibri"/>
              <a:ea typeface="Calibri"/>
              <a:cs typeface="Calibri"/>
              <a:sym typeface="Calibri"/>
            </a:endParaRPr>
          </a:p>
        </p:txBody>
      </p:sp>
      <p:sp>
        <p:nvSpPr>
          <p:cNvPr id="323" name="Google Shape;323;p8"/>
          <p:cNvSpPr/>
          <p:nvPr/>
        </p:nvSpPr>
        <p:spPr>
          <a:xfrm>
            <a:off x="5897880" y="3749040"/>
            <a:ext cx="612648" cy="201168"/>
          </a:xfrm>
          <a:prstGeom prst="rect">
            <a:avLst/>
          </a:prstGeom>
          <a:solidFill>
            <a:srgbClr val="16A34A">
              <a:alpha val="14901"/>
            </a:srgbClr>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p:nvPr/>
        </p:nvSpPr>
        <p:spPr>
          <a:xfrm>
            <a:off x="5897880" y="3749040"/>
            <a:ext cx="61264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Python</a:t>
            </a:r>
            <a:endParaRPr b="0" i="0" sz="700" u="none" cap="none" strike="noStrike">
              <a:solidFill>
                <a:schemeClr val="dk1"/>
              </a:solidFill>
              <a:latin typeface="Calibri"/>
              <a:ea typeface="Calibri"/>
              <a:cs typeface="Calibri"/>
              <a:sym typeface="Calibri"/>
            </a:endParaRPr>
          </a:p>
        </p:txBody>
      </p:sp>
      <p:sp>
        <p:nvSpPr>
          <p:cNvPr id="325" name="Google Shape;325;p8"/>
          <p:cNvSpPr/>
          <p:nvPr/>
        </p:nvSpPr>
        <p:spPr>
          <a:xfrm>
            <a:off x="6565392" y="3749040"/>
            <a:ext cx="681228" cy="201168"/>
          </a:xfrm>
          <a:prstGeom prst="rect">
            <a:avLst/>
          </a:prstGeom>
          <a:solidFill>
            <a:srgbClr val="16A34A">
              <a:alpha val="14901"/>
            </a:srgbClr>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8"/>
          <p:cNvSpPr/>
          <p:nvPr/>
        </p:nvSpPr>
        <p:spPr>
          <a:xfrm>
            <a:off x="6565392" y="3749040"/>
            <a:ext cx="68122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PyTorch</a:t>
            </a:r>
            <a:endParaRPr b="0" i="0" sz="700" u="none" cap="none" strike="noStrike">
              <a:solidFill>
                <a:schemeClr val="dk1"/>
              </a:solidFill>
              <a:latin typeface="Calibri"/>
              <a:ea typeface="Calibri"/>
              <a:cs typeface="Calibri"/>
              <a:sym typeface="Calibri"/>
            </a:endParaRPr>
          </a:p>
        </p:txBody>
      </p:sp>
      <p:sp>
        <p:nvSpPr>
          <p:cNvPr id="327" name="Google Shape;327;p8"/>
          <p:cNvSpPr/>
          <p:nvPr/>
        </p:nvSpPr>
        <p:spPr>
          <a:xfrm>
            <a:off x="7301484" y="3749040"/>
            <a:ext cx="406908" cy="201168"/>
          </a:xfrm>
          <a:prstGeom prst="rect">
            <a:avLst/>
          </a:prstGeom>
          <a:solidFill>
            <a:srgbClr val="16A34A">
              <a:alpha val="14901"/>
            </a:srgbClr>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8"/>
          <p:cNvSpPr/>
          <p:nvPr/>
        </p:nvSpPr>
        <p:spPr>
          <a:xfrm>
            <a:off x="7301484" y="3749040"/>
            <a:ext cx="40690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RAG</a:t>
            </a:r>
            <a:endParaRPr b="0" i="0" sz="700" u="none" cap="none" strike="noStrike">
              <a:solidFill>
                <a:schemeClr val="dk1"/>
              </a:solidFill>
              <a:latin typeface="Calibri"/>
              <a:ea typeface="Calibri"/>
              <a:cs typeface="Calibri"/>
              <a:sym typeface="Calibri"/>
            </a:endParaRPr>
          </a:p>
        </p:txBody>
      </p:sp>
      <p:sp>
        <p:nvSpPr>
          <p:cNvPr id="329" name="Google Shape;329;p8"/>
          <p:cNvSpPr/>
          <p:nvPr/>
        </p:nvSpPr>
        <p:spPr>
          <a:xfrm>
            <a:off x="7763256" y="3749040"/>
            <a:ext cx="818388" cy="201168"/>
          </a:xfrm>
          <a:prstGeom prst="rect">
            <a:avLst/>
          </a:prstGeom>
          <a:solidFill>
            <a:srgbClr val="16A34A">
              <a:alpha val="14901"/>
            </a:srgbClr>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p:nvPr/>
        </p:nvSpPr>
        <p:spPr>
          <a:xfrm>
            <a:off x="7763256" y="3749040"/>
            <a:ext cx="818388"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700"/>
              <a:buFont typeface="Calibri"/>
              <a:buNone/>
            </a:pPr>
            <a:r>
              <a:rPr b="1" i="0" lang="en-US" sz="700" u="none" cap="none" strike="noStrike">
                <a:solidFill>
                  <a:srgbClr val="16A34A"/>
                </a:solidFill>
                <a:latin typeface="Calibri"/>
                <a:ea typeface="Calibri"/>
                <a:cs typeface="Calibri"/>
                <a:sym typeface="Calibri"/>
              </a:rPr>
              <a:t>LangChain</a:t>
            </a:r>
            <a:endParaRPr b="0" i="0" sz="700" u="none" cap="none" strike="noStrike">
              <a:solidFill>
                <a:schemeClr val="dk1"/>
              </a:solidFill>
              <a:latin typeface="Calibri"/>
              <a:ea typeface="Calibri"/>
              <a:cs typeface="Calibri"/>
              <a:sym typeface="Calibri"/>
            </a:endParaRPr>
          </a:p>
        </p:txBody>
      </p:sp>
      <p:sp>
        <p:nvSpPr>
          <p:cNvPr id="331" name="Google Shape;331;p8"/>
          <p:cNvSpPr/>
          <p:nvPr/>
        </p:nvSpPr>
        <p:spPr>
          <a:xfrm>
            <a:off x="5897880" y="4096512"/>
            <a:ext cx="28163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74151"/>
              </a:buClr>
              <a:buSzPts val="850"/>
              <a:buFont typeface="Calibri"/>
              <a:buNone/>
            </a:pPr>
            <a:r>
              <a:rPr b="0" i="1" lang="en-US" sz="850" u="none" cap="none" strike="noStrike">
                <a:solidFill>
                  <a:srgbClr val="374151"/>
                </a:solidFill>
                <a:latin typeface="Calibri"/>
                <a:ea typeface="Calibri"/>
                <a:cs typeface="Calibri"/>
                <a:sym typeface="Calibri"/>
              </a:rPr>
              <a:t>"Describe a production RAG pipeline you designed at scale."</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36" name="Shape 336"/>
        <p:cNvGrpSpPr/>
        <p:nvPr/>
      </p:nvGrpSpPr>
      <p:grpSpPr>
        <a:xfrm>
          <a:off x="0" y="0"/>
          <a:ext cx="0" cy="0"/>
          <a:chOff x="0" y="0"/>
          <a:chExt cx="0" cy="0"/>
        </a:xfrm>
      </p:grpSpPr>
      <p:sp>
        <p:nvSpPr>
          <p:cNvPr id="337" name="Google Shape;337;p10"/>
          <p:cNvSpPr/>
          <p:nvPr/>
        </p:nvSpPr>
        <p:spPr>
          <a:xfrm>
            <a:off x="0" y="0"/>
            <a:ext cx="64008" cy="5143500"/>
          </a:xfrm>
          <a:prstGeom prst="rect">
            <a:avLst/>
          </a:prstGeom>
          <a:solidFill>
            <a:srgbClr val="2563EB"/>
          </a:solidFill>
          <a:ln cap="flat" cmpd="sng" w="12700">
            <a:solidFill>
              <a:srgbClr val="2563E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0"/>
          <p:cNvSpPr/>
          <p:nvPr/>
        </p:nvSpPr>
        <p:spPr>
          <a:xfrm>
            <a:off x="0" y="749808"/>
            <a:ext cx="914400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5200"/>
              <a:buFont typeface="Calibri"/>
              <a:buNone/>
            </a:pPr>
            <a:r>
              <a:rPr b="0" i="0" lang="en-US" sz="5200" u="none" cap="none" strike="noStrike">
                <a:solidFill>
                  <a:srgbClr val="000000"/>
                </a:solidFill>
                <a:latin typeface="Calibri"/>
                <a:ea typeface="Calibri"/>
                <a:cs typeface="Calibri"/>
                <a:sym typeface="Calibri"/>
              </a:rPr>
              <a:t>⚡</a:t>
            </a:r>
            <a:endParaRPr b="0" i="0" sz="5200" u="none" cap="none" strike="noStrike">
              <a:solidFill>
                <a:schemeClr val="dk1"/>
              </a:solidFill>
              <a:latin typeface="Calibri"/>
              <a:ea typeface="Calibri"/>
              <a:cs typeface="Calibri"/>
              <a:sym typeface="Calibri"/>
            </a:endParaRPr>
          </a:p>
        </p:txBody>
      </p:sp>
      <p:sp>
        <p:nvSpPr>
          <p:cNvPr id="339" name="Google Shape;339;p10"/>
          <p:cNvSpPr/>
          <p:nvPr/>
        </p:nvSpPr>
        <p:spPr>
          <a:xfrm>
            <a:off x="0" y="1719072"/>
            <a:ext cx="91440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4800"/>
              <a:buFont typeface="Calibri"/>
              <a:buNone/>
            </a:pPr>
            <a:r>
              <a:rPr b="1" i="0" lang="en-US" sz="4800" u="none" cap="none" strike="noStrike">
                <a:solidFill>
                  <a:srgbClr val="FFFFFF"/>
                </a:solidFill>
                <a:latin typeface="Calibri"/>
                <a:ea typeface="Calibri"/>
                <a:cs typeface="Calibri"/>
                <a:sym typeface="Calibri"/>
              </a:rPr>
              <a:t>HireSense AI</a:t>
            </a:r>
            <a:endParaRPr b="0" i="0" sz="4800" u="none" cap="none" strike="noStrike">
              <a:solidFill>
                <a:schemeClr val="dk1"/>
              </a:solidFill>
              <a:latin typeface="Calibri"/>
              <a:ea typeface="Calibri"/>
              <a:cs typeface="Calibri"/>
              <a:sym typeface="Calibri"/>
            </a:endParaRPr>
          </a:p>
        </p:txBody>
      </p:sp>
      <p:sp>
        <p:nvSpPr>
          <p:cNvPr id="340" name="Google Shape;340;p10"/>
          <p:cNvSpPr/>
          <p:nvPr/>
        </p:nvSpPr>
        <p:spPr>
          <a:xfrm>
            <a:off x="0" y="2615184"/>
            <a:ext cx="914400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C5FD"/>
              </a:buClr>
              <a:buSzPts val="1800"/>
              <a:buFont typeface="Calibri"/>
              <a:buNone/>
            </a:pPr>
            <a:r>
              <a:rPr b="0" i="0" lang="en-US" sz="1800" u="none" cap="none" strike="noStrike">
                <a:solidFill>
                  <a:srgbClr val="93C5FD"/>
                </a:solidFill>
                <a:latin typeface="Calibri"/>
                <a:ea typeface="Calibri"/>
                <a:cs typeface="Calibri"/>
                <a:sym typeface="Calibri"/>
              </a:rPr>
              <a:t>Smarter. Fairer. Explainable.</a:t>
            </a:r>
            <a:endParaRPr b="0" i="0" sz="1800" u="none" cap="none" strike="noStrike">
              <a:solidFill>
                <a:schemeClr val="dk1"/>
              </a:solidFill>
              <a:latin typeface="Calibri"/>
              <a:ea typeface="Calibri"/>
              <a:cs typeface="Calibri"/>
              <a:sym typeface="Calibri"/>
            </a:endParaRPr>
          </a:p>
        </p:txBody>
      </p:sp>
      <p:sp>
        <p:nvSpPr>
          <p:cNvPr id="341" name="Google Shape;341;p10"/>
          <p:cNvSpPr/>
          <p:nvPr/>
        </p:nvSpPr>
        <p:spPr>
          <a:xfrm>
            <a:off x="1920240" y="3246120"/>
            <a:ext cx="1600200" cy="749808"/>
          </a:xfrm>
          <a:prstGeom prst="rect">
            <a:avLst/>
          </a:prstGeom>
          <a:solidFill>
            <a:srgbClr val="FFFFFF">
              <a:alpha val="10196"/>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0"/>
          <p:cNvSpPr/>
          <p:nvPr/>
        </p:nvSpPr>
        <p:spPr>
          <a:xfrm>
            <a:off x="1920240" y="3273552"/>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43" name="Google Shape;343;p10"/>
          <p:cNvSpPr/>
          <p:nvPr/>
        </p:nvSpPr>
        <p:spPr>
          <a:xfrm>
            <a:off x="1920240" y="3621024"/>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C5FD"/>
              </a:buClr>
              <a:buSzPts val="900"/>
              <a:buFont typeface="Calibri"/>
              <a:buNone/>
            </a:pPr>
            <a:r>
              <a:rPr b="0" i="0" lang="en-US" sz="900" u="none" cap="none" strike="noStrike">
                <a:solidFill>
                  <a:srgbClr val="93C5FD"/>
                </a:solidFill>
                <a:latin typeface="Calibri"/>
                <a:ea typeface="Calibri"/>
                <a:cs typeface="Calibri"/>
                <a:sym typeface="Calibri"/>
              </a:rPr>
              <a:t>Semantic Matching</a:t>
            </a:r>
            <a:endParaRPr b="0" i="0" sz="900" u="none" cap="none" strike="noStrike">
              <a:solidFill>
                <a:schemeClr val="dk1"/>
              </a:solidFill>
              <a:latin typeface="Calibri"/>
              <a:ea typeface="Calibri"/>
              <a:cs typeface="Calibri"/>
              <a:sym typeface="Calibri"/>
            </a:endParaRPr>
          </a:p>
        </p:txBody>
      </p:sp>
      <p:sp>
        <p:nvSpPr>
          <p:cNvPr id="344" name="Google Shape;344;p10"/>
          <p:cNvSpPr/>
          <p:nvPr/>
        </p:nvSpPr>
        <p:spPr>
          <a:xfrm>
            <a:off x="3749040" y="3246120"/>
            <a:ext cx="1600200" cy="749808"/>
          </a:xfrm>
          <a:prstGeom prst="rect">
            <a:avLst/>
          </a:prstGeom>
          <a:solidFill>
            <a:srgbClr val="FFFFFF">
              <a:alpha val="10196"/>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0"/>
          <p:cNvSpPr/>
          <p:nvPr/>
        </p:nvSpPr>
        <p:spPr>
          <a:xfrm>
            <a:off x="3749040" y="3273552"/>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46" name="Google Shape;346;p10"/>
          <p:cNvSpPr/>
          <p:nvPr/>
        </p:nvSpPr>
        <p:spPr>
          <a:xfrm>
            <a:off x="3749040" y="3621024"/>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C5FD"/>
              </a:buClr>
              <a:buSzPts val="900"/>
              <a:buFont typeface="Calibri"/>
              <a:buNone/>
            </a:pPr>
            <a:r>
              <a:rPr b="0" i="0" lang="en-US" sz="900" u="none" cap="none" strike="noStrike">
                <a:solidFill>
                  <a:srgbClr val="93C5FD"/>
                </a:solidFill>
                <a:latin typeface="Calibri"/>
                <a:ea typeface="Calibri"/>
                <a:cs typeface="Calibri"/>
                <a:sym typeface="Calibri"/>
              </a:rPr>
              <a:t>Explainable Scores</a:t>
            </a:r>
            <a:endParaRPr b="0" i="0" sz="900" u="none" cap="none" strike="noStrike">
              <a:solidFill>
                <a:schemeClr val="dk1"/>
              </a:solidFill>
              <a:latin typeface="Calibri"/>
              <a:ea typeface="Calibri"/>
              <a:cs typeface="Calibri"/>
              <a:sym typeface="Calibri"/>
            </a:endParaRPr>
          </a:p>
        </p:txBody>
      </p:sp>
      <p:sp>
        <p:nvSpPr>
          <p:cNvPr id="347" name="Google Shape;347;p10"/>
          <p:cNvSpPr/>
          <p:nvPr/>
        </p:nvSpPr>
        <p:spPr>
          <a:xfrm>
            <a:off x="5577840" y="3246120"/>
            <a:ext cx="1600200" cy="749808"/>
          </a:xfrm>
          <a:prstGeom prst="rect">
            <a:avLst/>
          </a:prstGeom>
          <a:solidFill>
            <a:srgbClr val="FFFFFF">
              <a:alpha val="10196"/>
            </a:srgbClr>
          </a:solidFill>
          <a:ln cap="flat" cmpd="sng" w="12700">
            <a:solidFill>
              <a:srgbClr val="3B82F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0"/>
          <p:cNvSpPr/>
          <p:nvPr/>
        </p:nvSpPr>
        <p:spPr>
          <a:xfrm>
            <a:off x="5577840" y="3273552"/>
            <a:ext cx="160020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349" name="Google Shape;349;p10"/>
          <p:cNvSpPr/>
          <p:nvPr/>
        </p:nvSpPr>
        <p:spPr>
          <a:xfrm>
            <a:off x="5577840" y="3621024"/>
            <a:ext cx="160020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3C5FD"/>
              </a:buClr>
              <a:buSzPts val="900"/>
              <a:buFont typeface="Calibri"/>
              <a:buNone/>
            </a:pPr>
            <a:r>
              <a:rPr b="0" i="0" lang="en-US" sz="900" u="none" cap="none" strike="noStrike">
                <a:solidFill>
                  <a:srgbClr val="93C5FD"/>
                </a:solidFill>
                <a:latin typeface="Calibri"/>
                <a:ea typeface="Calibri"/>
                <a:cs typeface="Calibri"/>
                <a:sym typeface="Calibri"/>
              </a:rPr>
              <a:t>Dual LLM Power</a:t>
            </a:r>
            <a:endParaRPr b="0" i="0" sz="900" u="none" cap="none" strike="noStrike">
              <a:solidFill>
                <a:schemeClr val="dk1"/>
              </a:solidFill>
              <a:latin typeface="Calibri"/>
              <a:ea typeface="Calibri"/>
              <a:cs typeface="Calibri"/>
              <a:sym typeface="Calibri"/>
            </a:endParaRPr>
          </a:p>
        </p:txBody>
      </p:sp>
      <p:sp>
        <p:nvSpPr>
          <p:cNvPr id="350" name="Google Shape;350;p10"/>
          <p:cNvSpPr/>
          <p:nvPr/>
        </p:nvSpPr>
        <p:spPr>
          <a:xfrm>
            <a:off x="0" y="4709160"/>
            <a:ext cx="91440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8FB0"/>
              </a:buClr>
              <a:buSzPts val="900"/>
              <a:buFont typeface="Calibri"/>
              <a:buNone/>
            </a:pPr>
            <a:r>
              <a:rPr b="0" i="0" lang="en-US" sz="900" u="none" cap="none" strike="noStrike">
                <a:solidFill>
                  <a:srgbClr val="7B8FB0"/>
                </a:solidFill>
                <a:latin typeface="Calibri"/>
                <a:ea typeface="Calibri"/>
                <a:cs typeface="Calibri"/>
                <a:sym typeface="Calibri"/>
              </a:rPr>
              <a:t>MAS 691 — Large Language Models  |  April 2026</a:t>
            </a:r>
            <a:endParaRPr b="0" i="0" sz="900" u="none" cap="none" strike="noStrike">
              <a:solidFill>
                <a:schemeClr val="dk1"/>
              </a:solidFill>
              <a:latin typeface="Calibri"/>
              <a:ea typeface="Calibri"/>
              <a:cs typeface="Calibri"/>
              <a:sym typeface="Calibri"/>
            </a:endParaRPr>
          </a:p>
        </p:txBody>
      </p:sp>
      <p:sp>
        <p:nvSpPr>
          <p:cNvPr id="351" name="Google Shape;351;p10"/>
          <p:cNvSpPr/>
          <p:nvPr/>
        </p:nvSpPr>
        <p:spPr>
          <a:xfrm>
            <a:off x="0" y="4315968"/>
            <a:ext cx="914400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B8FB0"/>
              </a:buClr>
              <a:buSzPts val="900"/>
              <a:buFont typeface="Calibri"/>
              <a:buNone/>
            </a:pPr>
            <a:r>
              <a:rPr b="0" i="0" lang="en-US" sz="900" u="none" cap="none" strike="noStrike">
                <a:solidFill>
                  <a:srgbClr val="7B8FB0"/>
                </a:solidFill>
                <a:latin typeface="Calibri"/>
                <a:ea typeface="Calibri"/>
                <a:cs typeface="Calibri"/>
                <a:sym typeface="Calibri"/>
              </a:rPr>
              <a:t>Waleed El-Jack  ·  Kristofor Figueiredo  ·  Kevin Ordet  ·  Jamie Shook</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2026-04-28T00:41:56Z</dcterms:created>
  <dc:creator>Waleed El-Jack · Kristofor Figueiredo · Kevin Ordet · Jamie Shook</dc:creator>
</cp:coreProperties>
</file>